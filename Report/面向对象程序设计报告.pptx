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792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这份报告讨论 Mandol 在复杂条件检索下的瓶颈，以及下一步应该怎么改。我的核心判断是：候选已经够了，真正缺的是把实体、时间、关系这些条件落到证据上，并让融合和重排感知这些条件。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Mandol 可以分成记忆组织、记忆存储和记忆检索三段。组织层把对话整理成 L0 观察、L1 摘要、L2 洞察，以及 episodic 事件和 entity relation；存储层用统一的 MemoryUnit 连接内容索引和图关系；检索层再把这些记忆映射回 query。我的研究只改检索层，不重写记忆组织和存储格式。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检索相关代码可以分成四层。最底层是 MemoryUnit 和 MemorySpace，往上是 SemanticMap 和 SemanticGraph，再往上是 BM25、dense、SPLADE 这些单后端，最上面才是 MultiRetriever、ScoreFusion 和 Reranker 组成的编排层。理解这个分层很重要，因为后面看到的很多问题，不是某个后端不会检索，而是编排层没有把条件和能力接起来。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同一条记忆，既能被索引命中，也能沿关系继续走，靠的是统一 UID。MemoryUnit 保存原始内容、元数据和向量；SemanticMap 负责内容与索引；SemanticGraph 负责节点和关系边。QueryBundle 让三个后端复用同一份 query 特征，MultiRetriever 只做编排，ScoreFusion 和 Reranker 负责最后的合并与排序。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主链路本身是通的：query 进入 QueryBundle，并行调用 BM25、dense 和 SPLADE，再做 RRF 融合和可选重排，最后输出候选。但代码里有三个断点。自托管的 retrieve 脚本绕过了 TripleTowerRetriever；MultiRetriever 的 graph_expander 没有初始化，所以打开图扩展其实是空操作；融合仍然是固定 RRF 或固定权重，没有条件输入。代码能力存在，不等于主链路生效，这也是预实验要直接做探针的原因。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现有评测链是 build graph、retrieve、generate、score，能回答 QA 总分、LLM judge、延迟和 QPS。但它回答不了另外三类问题：实体、时间、关系这些条件为什么失败；BM25、dense、SPLADE 各自贡献多少；图扩展有没有带来新的 dialogue 证据。总分相同，可能对应完全不同的失败机制，所以我们需要补条件级 probe、方法级 ablation，以及 FAR 和 abstention 这些指标。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先看 Tier A 的主结果。first stage 的 union Recall@10 是 1.000，说明候选覆盖已经饱和；但 final union Recall@10 只有 0.765，final nDCG@10 只有 0.50。hit@10 是 1.000，说明几乎每个问题都至少命中一条 gold，但多证据问题仍然会漏证据。继续扩大 top k 主要增加长尾候选，没有提高最终 top 10 的 gold 覆盖，所以下一步应该优化条件 grounding 和排序。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预实验排除了四个看起来很自然的方向。图扩展相对 graph top 100 的 gold 增量是零，二跳语义扩展的噪声大约是 0.84；精确实体过滤的 gold 保留率只有 0.848，R@10 从 0.697 掉到 0.591；软约束里的 LR 和 MLP 都没有超过 baseline，FAR 还偏高；MLP 路由的 Oracle 上限只有二点三到三点八个百分点，但查询特征预测后的 R@10 只有 0.424。这些结果说明，条件没有 grounding 时，后置过滤会把噪声和 gold 一起处理掉。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所以设计上的差异不是换一个 RRF 权重。原设计是 query 进 MultiRetriever，做 RRF 和 rerank 后输出；新设计在 query 后面加 ConditionParser 和 EvidenceGrounder，再把条件送进检索、融合和重排，最后做证据校验。四个新增位置分别是 ConditionSet、EvidenceLink、方法级与塔级权重、以及证据校验。图扩展、硬过滤和 MLP 路由暂时不作为第一阶段目标，因为它们要么没有增量，要么会把 gold 一起过滤掉。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方案分三层。第一层是条件解析与证据 grounding，把实体、别名、时间区间、关系方向、否定和状态更新解析出来，再落到 L0 dialogue，未解析的条件要显式保留。第二层是条件感知的融合和重排，让 BM25、dense、SPLADE 的方法权重，以及 L0、hierarchical、graph、episodic 的塔权重随条件变化，同时做条件匹配、证据覆盖和去重；只有高置信条件才做硬过滤。第三层是端到端验证，看 R@10、nDCG、FAR、abstention、F1、judge，以及延迟和 token 成本。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实施顺序是四步。先做方法级 ablation，拆开 BM25、dense、SPLADE 的单独贡献；再做条件解析和 grounding，精确过滤的 gold 保留率目标是不低于百分之九十；然后在独立 dev 上验证条件融合，至少提升两个点才继续；最后做端到端生成和成本。停止条件也写清楚：grounding 低于百分之九十不做硬过滤，融合低于两个点停止，图扩展低于三个点停止，MLP 上限低于一到两个点就不训练。预期提升二到四个点 R@10，这是目标，不是已经实现的结果。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最后回到一句话：先把条件落到证据，再谈融合。Mandol 的多后端、多塔和图结构已经具备，当前瓶颈是条件表示、证据 grounding 和 top k 选择；下一阶段应该做 condition aware fusion，图扩展和 MLP 暂缓。留给讨论的问题是：条件 grounding 应该先做实体，还是先做时间？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ndol-exp0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altLang="zh-CN" smtClean="0"/>
              <a:t>10/22/2026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ndol-exp0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altLang="zh-CN" smtClean="0"/>
              <a:t>10/22/2026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609600" y="914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3" name="Line 3"/>
          <p:cNvSpPr/>
          <p:nvPr/>
        </p:nvSpPr>
        <p:spPr>
          <a:xfrm>
            <a:off x="609600" y="64008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grpSp>
        <p:nvGrpSpPr>
          <p:cNvPr id="21" name="cover-ghost"/>
          <p:cNvGrpSpPr/>
          <p:nvPr/>
        </p:nvGrpSpPr>
        <p:grpSpPr>
          <a:xfrm>
            <a:off x="8186090" y="1289050"/>
            <a:ext cx="1363370" cy="3968750"/>
            <a:chOff x="8186090" y="1365250"/>
            <a:chExt cx="1363370" cy="3968750"/>
          </a:xfrm>
        </p:grpSpPr>
        <p:sp>
          <p:nvSpPr>
            <p:cNvPr id="4" name="TextBox 4"/>
            <p:cNvSpPr txBox="1"/>
            <p:nvPr/>
          </p:nvSpPr>
          <p:spPr>
            <a:xfrm>
              <a:off x="8186090" y="1365250"/>
              <a:ext cx="136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chemeClr val="accent3">
                      <a:alphaMod val="34000"/>
                    </a:schemeClr>
                  </a:solidFill>
                  <a:latin typeface="+mn-lt"/>
                  <a:ea typeface="+mn-ea"/>
                  <a:cs typeface="+mn-cs"/>
                </a:rPr>
                <a:t>RETRIEVAL PATH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8858250" y="1866900"/>
              <a:ext cx="9525" cy="3467100"/>
            </a:xfrm>
            <a:custGeom>
              <a:avLst/>
              <a:gdLst/>
              <a:ahLst/>
              <a:cxnLst/>
              <a:rect l="l" t="t" r="r" b="b"/>
              <a:pathLst>
                <a:path w="9525" h="3467100">
                  <a:moveTo>
                    <a:pt x="0" y="0"/>
                  </a:moveTo>
                  <a:lnTo>
                    <a:pt x="0" y="3467100"/>
                  </a:lnTo>
                </a:path>
              </a:pathLst>
            </a:custGeom>
            <a:noFill/>
            <a:ln w="9525">
              <a:solidFill>
                <a:schemeClr val="accent3">
                  <a:alpha val="34000"/>
                </a:scheme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8382000" y="1771650"/>
              <a:ext cx="952500" cy="285750"/>
            </a:xfrm>
            <a:prstGeom prst="rect">
              <a:avLst/>
            </a:prstGeom>
            <a:noFill/>
            <a:ln w="9525">
              <a:solidFill>
                <a:schemeClr val="accent3">
                  <a:alpha val="34000"/>
                </a:scheme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42063" y="1835150"/>
              <a:ext cx="4323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accent3">
                      <a:alphaMod val="34000"/>
                    </a:schemeClr>
                  </a:solidFill>
                  <a:latin typeface="+mn-lt"/>
                  <a:ea typeface="+mn-ea"/>
                  <a:cs typeface="+mn-cs"/>
                </a:rPr>
                <a:t>Query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382000" y="2628900"/>
              <a:ext cx="952500" cy="285750"/>
            </a:xfrm>
            <a:prstGeom prst="rect">
              <a:avLst/>
            </a:prstGeom>
            <a:noFill/>
            <a:ln w="9525">
              <a:solidFill>
                <a:schemeClr val="accent3">
                  <a:alpha val="34000"/>
                </a:schemeClr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39744" y="2692400"/>
              <a:ext cx="6370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accent3">
                      <a:alphaMod val="34000"/>
                    </a:schemeClr>
                  </a:solidFill>
                  <a:latin typeface="+mn-lt"/>
                  <a:ea typeface="+mn-ea"/>
                  <a:cs typeface="+mn-cs"/>
                </a:rPr>
                <a:t>Backends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382000" y="3486150"/>
              <a:ext cx="952500" cy="285750"/>
            </a:xfrm>
            <a:prstGeom prst="rect">
              <a:avLst/>
            </a:prstGeom>
            <a:noFill/>
            <a:ln w="9525">
              <a:solidFill>
                <a:schemeClr val="accent3">
                  <a:alpha val="34000"/>
                </a:schemeClr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635322" y="3549650"/>
              <a:ext cx="445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accent3">
                      <a:alphaMod val="34000"/>
                    </a:schemeClr>
                  </a:solidFill>
                  <a:latin typeface="+mn-lt"/>
                  <a:ea typeface="+mn-ea"/>
                  <a:cs typeface="+mn-cs"/>
                </a:rPr>
                <a:t>Fusion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382000" y="4343400"/>
              <a:ext cx="952500" cy="285750"/>
            </a:xfrm>
            <a:prstGeom prst="rect">
              <a:avLst/>
            </a:prstGeom>
            <a:noFill/>
            <a:ln w="9525">
              <a:solidFill>
                <a:schemeClr val="accent3">
                  <a:alpha val="34000"/>
                </a:schemeClr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692096" y="4406900"/>
              <a:ext cx="3323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accent3">
                      <a:alphaMod val="34000"/>
                    </a:schemeClr>
                  </a:solidFill>
                  <a:latin typeface="+mn-lt"/>
                  <a:ea typeface="+mn-ea"/>
                  <a:cs typeface="+mn-cs"/>
                </a:rPr>
                <a:t>Final</a:t>
              </a:r>
            </a:p>
          </p:txBody>
        </p:sp>
      </p:grpSp>
      <p:grpSp>
        <p:nvGrpSpPr>
          <p:cNvPr id="27" name="cover-title"/>
          <p:cNvGrpSpPr/>
          <p:nvPr/>
        </p:nvGrpSpPr>
        <p:grpSpPr>
          <a:xfrm>
            <a:off x="590550" y="1301750"/>
            <a:ext cx="6617196" cy="3043044"/>
            <a:chOff x="590550" y="1301750"/>
            <a:chExt cx="6617196" cy="3043044"/>
          </a:xfrm>
        </p:grpSpPr>
        <p:sp>
          <p:nvSpPr>
            <p:cNvPr id="22" name="TextBox 22"/>
            <p:cNvSpPr txBox="1"/>
            <p:nvPr/>
          </p:nvSpPr>
          <p:spPr>
            <a:xfrm>
              <a:off x="604266" y="1301750"/>
              <a:ext cx="20756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OOP 2026 · 研究方向 2.2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90550" y="1736111"/>
              <a:ext cx="6617196" cy="16619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zh-CN" sz="5400" dirty="0"/>
                <a:t>Mandol 复杂条件检索</a:t>
              </a:r>
              <a:endParaRPr lang="en-US" altLang="zh-CN" sz="5400" dirty="0"/>
            </a:p>
            <a:p>
              <a:r>
                <a:rPr lang="zh-CN" altLang="zh-CN" sz="5400" dirty="0"/>
                <a:t>与多检索方式融合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90550" y="3930438"/>
              <a:ext cx="207749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zh-CN" dirty="0">
                  <a:solidFill>
                    <a:schemeClr val="accent5"/>
                  </a:solidFill>
                </a:rPr>
                <a:t>系统分析与初步设计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09600" y="4316219"/>
              <a:ext cx="10668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34" name="footer"/>
          <p:cNvGrpSpPr/>
          <p:nvPr/>
        </p:nvGrpSpPr>
        <p:grpSpPr>
          <a:xfrm>
            <a:off x="604266" y="6521450"/>
            <a:ext cx="10983468" cy="205359"/>
            <a:chOff x="604266" y="6521450"/>
            <a:chExt cx="10983468" cy="205359"/>
          </a:xfrm>
        </p:grpSpPr>
        <p:sp>
          <p:nvSpPr>
            <p:cNvPr id="32" name="TextBox 32"/>
            <p:cNvSpPr txBox="1"/>
            <p:nvPr/>
          </p:nvSpPr>
          <p:spPr>
            <a:xfrm>
              <a:off x="604266" y="65214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12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880854" y="652145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从系统结构到条件感知融合</a:t>
              </a:r>
            </a:p>
          </p:txBody>
        </p:sp>
      </p:grpSp>
      <p:sp>
        <p:nvSpPr>
          <p:cNvPr id="36" name="文本框 35">
            <a:extLst>
              <a:ext uri="{FF2B5EF4-FFF2-40B4-BE49-F238E27FC236}">
                <a16:creationId xmlns:a16="http://schemas.microsoft.com/office/drawing/2014/main" id="{BC58E8CC-0F95-7263-27E9-53514375C362}"/>
              </a:ext>
            </a:extLst>
          </p:cNvPr>
          <p:cNvSpPr txBox="1"/>
          <p:nvPr/>
        </p:nvSpPr>
        <p:spPr>
          <a:xfrm>
            <a:off x="604266" y="5179777"/>
            <a:ext cx="21339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2">
                    <a:lumMod val="50000"/>
                  </a:schemeClr>
                </a:solidFill>
              </a:rPr>
              <a:t>赵禹衡</a:t>
            </a:r>
            <a:endParaRPr lang="en-US" altLang="zh-CN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bg2">
                    <a:lumMod val="50000"/>
                  </a:schemeClr>
                </a:solidFill>
              </a:rPr>
              <a:t>2024K8009970007</a:t>
            </a:r>
            <a:endParaRPr lang="zh-CN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609600" y="64008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grpSp>
        <p:nvGrpSpPr>
          <p:cNvPr id="5" name="title"/>
          <p:cNvGrpSpPr/>
          <p:nvPr/>
        </p:nvGrpSpPr>
        <p:grpSpPr>
          <a:xfrm>
            <a:off x="574826" y="234950"/>
            <a:ext cx="6059351" cy="1193038"/>
            <a:chOff x="574826" y="234950"/>
            <a:chExt cx="6059351" cy="1193038"/>
          </a:xfrm>
        </p:grpSpPr>
        <p:sp>
          <p:nvSpPr>
            <p:cNvPr id="3" name="TextBox 3"/>
            <p:cNvSpPr txBox="1"/>
            <p:nvPr/>
          </p:nvSpPr>
          <p:spPr>
            <a:xfrm>
              <a:off x="604266" y="234950"/>
              <a:ext cx="10545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· 系统结构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4826" y="458492"/>
              <a:ext cx="6059351" cy="969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Mandol </a:t>
              </a:r>
              <a:endParaRPr lang="en-US" altLang="zh-CN" sz="31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把记忆分成组织、存储、检索三段</a:t>
              </a:r>
            </a:p>
          </p:txBody>
        </p:sp>
      </p:grpSp>
      <p:grpSp>
        <p:nvGrpSpPr>
          <p:cNvPr id="23" name="layers"/>
          <p:cNvGrpSpPr/>
          <p:nvPr/>
        </p:nvGrpSpPr>
        <p:grpSpPr>
          <a:xfrm>
            <a:off x="602742" y="1473200"/>
            <a:ext cx="5742085" cy="4778883"/>
            <a:chOff x="602742" y="1473200"/>
            <a:chExt cx="5742085" cy="4778883"/>
          </a:xfrm>
        </p:grpSpPr>
        <p:sp>
          <p:nvSpPr>
            <p:cNvPr id="6" name="Line 6"/>
            <p:cNvSpPr/>
            <p:nvPr/>
          </p:nvSpPr>
          <p:spPr>
            <a:xfrm>
              <a:off x="1066800" y="1581150"/>
              <a:ext cx="9525" cy="4229100"/>
            </a:xfrm>
            <a:custGeom>
              <a:avLst/>
              <a:gdLst/>
              <a:ahLst/>
              <a:cxnLst/>
              <a:rect l="l" t="t" r="r" b="b"/>
              <a:pathLst>
                <a:path w="9525" h="4229100">
                  <a:moveTo>
                    <a:pt x="0" y="0"/>
                  </a:moveTo>
                  <a:lnTo>
                    <a:pt x="0" y="42291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019175" y="16478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019175" y="33813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019175" y="51149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4266" y="1644650"/>
              <a:ext cx="176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60170" y="147320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记忆组织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63218" y="1873250"/>
              <a:ext cx="40334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原始对话 → L0 观察 → L1 摘要 / L2 洞察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63218" y="2139950"/>
              <a:ext cx="35485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并行 episodic 与 entity / relation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4266" y="3378200"/>
              <a:ext cx="176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60170" y="320675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记忆存储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63218" y="3606800"/>
              <a:ext cx="4981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MemoryUnit ＋ SemanticMap ＋ SemanticGraph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63218" y="3873500"/>
              <a:ext cx="38253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dense / sparse / BM25 索引与图快照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4266" y="5111750"/>
              <a:ext cx="176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60170" y="494030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记忆检索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63218" y="5340350"/>
              <a:ext cx="30192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MultiRetriever → 融合 → 重排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63218" y="5607050"/>
              <a:ext cx="42018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TripleTowerRetriever 负责塔路由与剪枝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2742" y="5988050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研究聚焦：只改检索层，不重写组织与存储格式</a:t>
              </a:r>
            </a:p>
          </p:txBody>
        </p:sp>
      </p:grpSp>
      <p:grpSp>
        <p:nvGrpSpPr>
          <p:cNvPr id="27" name="system-map"/>
          <p:cNvGrpSpPr/>
          <p:nvPr/>
        </p:nvGrpSpPr>
        <p:grpSpPr>
          <a:xfrm>
            <a:off x="7847632" y="99982"/>
            <a:ext cx="4039567" cy="6243519"/>
            <a:chOff x="7962900" y="1333500"/>
            <a:chExt cx="3619500" cy="5017932"/>
          </a:xfrm>
        </p:grpSpPr>
        <p:sp>
          <p:nvSpPr>
            <p:cNvPr id="24" name="Rectangle 24"/>
            <p:cNvSpPr/>
            <p:nvPr/>
          </p:nvSpPr>
          <p:spPr>
            <a:xfrm>
              <a:off x="7962900" y="1333500"/>
              <a:ext cx="3619500" cy="48577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22915" y="1428750"/>
              <a:ext cx="2983580" cy="4667250"/>
            </a:xfrm>
            <a:prstGeom prst="rect">
              <a:avLst/>
            </a:prstGeom>
          </p:spPr>
        </p:pic>
        <p:sp>
          <p:nvSpPr>
            <p:cNvPr id="26" name="TextBox 26"/>
            <p:cNvSpPr txBox="1"/>
            <p:nvPr/>
          </p:nvSpPr>
          <p:spPr>
            <a:xfrm>
              <a:off x="7962900" y="6221567"/>
              <a:ext cx="810079" cy="1298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图 1 · 总体架构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604266" y="6521450"/>
            <a:ext cx="10983468" cy="205359"/>
            <a:chOff x="604266" y="6521450"/>
            <a:chExt cx="10983468" cy="205359"/>
          </a:xfrm>
        </p:grpSpPr>
        <p:sp>
          <p:nvSpPr>
            <p:cNvPr id="28" name="TextBox 28"/>
            <p:cNvSpPr txBox="1"/>
            <p:nvPr/>
          </p:nvSpPr>
          <p:spPr>
            <a:xfrm>
              <a:off x="604266" y="65214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12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505132" y="6521450"/>
              <a:ext cx="10826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Mandol 总体架构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609600" y="64008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grpSp>
        <p:nvGrpSpPr>
          <p:cNvPr id="5" name="title"/>
          <p:cNvGrpSpPr/>
          <p:nvPr/>
        </p:nvGrpSpPr>
        <p:grpSpPr>
          <a:xfrm>
            <a:off x="593598" y="234950"/>
            <a:ext cx="3635611" cy="783198"/>
            <a:chOff x="593598" y="234950"/>
            <a:chExt cx="3635611" cy="783198"/>
          </a:xfrm>
        </p:grpSpPr>
        <p:sp>
          <p:nvSpPr>
            <p:cNvPr id="3" name="TextBox 3"/>
            <p:cNvSpPr txBox="1"/>
            <p:nvPr/>
          </p:nvSpPr>
          <p:spPr>
            <a:xfrm>
              <a:off x="604266" y="234950"/>
              <a:ext cx="10545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· 代码地图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533400"/>
              <a:ext cx="3635611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检索部分的重要对象</a:t>
              </a:r>
              <a:endParaRPr lang="zh-CN" sz="31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56" name="code-map"/>
          <p:cNvGrpSpPr/>
          <p:nvPr/>
        </p:nvGrpSpPr>
        <p:grpSpPr>
          <a:xfrm>
            <a:off x="600456" y="1455738"/>
            <a:ext cx="10981944" cy="4491545"/>
            <a:chOff x="600456" y="1455738"/>
            <a:chExt cx="10981944" cy="4491545"/>
          </a:xfrm>
        </p:grpSpPr>
        <p:grpSp>
          <p:nvGrpSpPr>
            <p:cNvPr id="9" name="Group 9"/>
            <p:cNvGrpSpPr/>
            <p:nvPr/>
          </p:nvGrpSpPr>
          <p:grpSpPr>
            <a:xfrm>
              <a:off x="663575" y="1469231"/>
              <a:ext cx="215901" cy="242888"/>
              <a:chOff x="663575" y="1469231"/>
              <a:chExt cx="215901" cy="24288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663575" y="1469231"/>
                <a:ext cx="215901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80963">
                    <a:moveTo>
                      <a:pt x="0" y="40481"/>
                    </a:moveTo>
                    <a:cubicBezTo>
                      <a:pt x="0" y="62839"/>
                      <a:pt x="48331" y="80963"/>
                      <a:pt x="107950" y="80963"/>
                    </a:cubicBezTo>
                    <a:cubicBezTo>
                      <a:pt x="167570" y="80963"/>
                      <a:pt x="215901" y="62839"/>
                      <a:pt x="215901" y="40481"/>
                    </a:cubicBezTo>
                    <a:cubicBezTo>
                      <a:pt x="215901" y="18124"/>
                      <a:pt x="167570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63575" y="1509713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63575" y="1590675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</p:grpSp>
        <p:grpSp>
          <p:nvGrpSpPr>
            <p:cNvPr id="19" name="Group 19"/>
            <p:cNvGrpSpPr/>
            <p:nvPr/>
          </p:nvGrpSpPr>
          <p:grpSpPr>
            <a:xfrm>
              <a:off x="3417888" y="1455738"/>
              <a:ext cx="256381" cy="269875"/>
              <a:chOff x="3417888" y="1455738"/>
              <a:chExt cx="256381" cy="26987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3417888" y="1671638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53975" y="26988"/>
                    </a:move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3552825" y="1455738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53975" y="26988"/>
                    </a:move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3552825" y="1671638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53975" y="26988"/>
                    </a:move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3485356" y="1563688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53975" y="26988"/>
                    </a:move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620294" y="1563688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53975" y="26988"/>
                    </a:move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459152" y="1613615"/>
                <a:ext cx="38862" cy="62152"/>
              </a:xfrm>
              <a:custGeom>
                <a:avLst/>
                <a:gdLst/>
                <a:ahLst/>
                <a:cxnLst/>
                <a:rect l="l" t="t" r="r" b="b"/>
                <a:pathLst>
                  <a:path w="38862" h="62152">
                    <a:moveTo>
                      <a:pt x="0" y="62152"/>
                    </a:moveTo>
                    <a:lnTo>
                      <a:pt x="38862" y="0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526661" y="1505651"/>
                <a:ext cx="38822" cy="62125"/>
              </a:xfrm>
              <a:custGeom>
                <a:avLst/>
                <a:gdLst/>
                <a:ahLst/>
                <a:cxnLst/>
                <a:rect l="l" t="t" r="r" b="b"/>
                <a:pathLst>
                  <a:path w="38822" h="62125">
                    <a:moveTo>
                      <a:pt x="0" y="62125"/>
                    </a:moveTo>
                    <a:lnTo>
                      <a:pt x="38822" y="0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526715" y="1613682"/>
                <a:ext cx="38808" cy="62071"/>
              </a:xfrm>
              <a:custGeom>
                <a:avLst/>
                <a:gdLst/>
                <a:ahLst/>
                <a:cxnLst/>
                <a:rect l="l" t="t" r="r" b="b"/>
                <a:pathLst>
                  <a:path w="38808" h="62071">
                    <a:moveTo>
                      <a:pt x="0" y="0"/>
                    </a:moveTo>
                    <a:lnTo>
                      <a:pt x="38808" y="62071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594157" y="1505665"/>
                <a:ext cx="38876" cy="62206"/>
              </a:xfrm>
              <a:custGeom>
                <a:avLst/>
                <a:gdLst/>
                <a:ahLst/>
                <a:cxnLst/>
                <a:rect l="l" t="t" r="r" b="b"/>
                <a:pathLst>
                  <a:path w="38876" h="62206">
                    <a:moveTo>
                      <a:pt x="0" y="0"/>
                    </a:moveTo>
                    <a:lnTo>
                      <a:pt x="38876" y="62206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</p:grpSp>
        <p:grpSp>
          <p:nvGrpSpPr>
            <p:cNvPr id="22" name="Group 22"/>
            <p:cNvGrpSpPr/>
            <p:nvPr/>
          </p:nvGrpSpPr>
          <p:grpSpPr>
            <a:xfrm>
              <a:off x="6212681" y="1469231"/>
              <a:ext cx="242889" cy="242889"/>
              <a:chOff x="6212681" y="1469231"/>
              <a:chExt cx="242889" cy="242889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6212681" y="1469231"/>
                <a:ext cx="188913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188913">
                    <a:moveTo>
                      <a:pt x="0" y="94456"/>
                    </a:moveTo>
                    <a:cubicBezTo>
                      <a:pt x="0" y="146623"/>
                      <a:pt x="42290" y="188913"/>
                      <a:pt x="94456" y="188913"/>
                    </a:cubicBezTo>
                    <a:cubicBezTo>
                      <a:pt x="146623" y="188913"/>
                      <a:pt x="188913" y="146623"/>
                      <a:pt x="188913" y="94456"/>
                    </a:cubicBezTo>
                    <a:cubicBezTo>
                      <a:pt x="188913" y="42290"/>
                      <a:pt x="146623" y="0"/>
                      <a:pt x="94456" y="0"/>
                    </a:cubicBezTo>
                    <a:cubicBezTo>
                      <a:pt x="42290" y="0"/>
                      <a:pt x="0" y="42290"/>
                      <a:pt x="0" y="94456"/>
                    </a:cubicBez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374607" y="1631157"/>
                <a:ext cx="80963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80963">
                    <a:moveTo>
                      <a:pt x="80963" y="80963"/>
                    </a:moveTo>
                    <a:lnTo>
                      <a:pt x="0" y="0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8993981" y="1469231"/>
              <a:ext cx="242888" cy="242888"/>
              <a:chOff x="8993981" y="1469231"/>
              <a:chExt cx="242888" cy="24288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8993981" y="1658144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182894" y="146923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26988" y="53975"/>
                    </a:move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  <a:cubicBezTo>
                      <a:pt x="0" y="41892"/>
                      <a:pt x="12083" y="53975"/>
                      <a:pt x="26988" y="53975"/>
                    </a:cubicBez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9020969" y="1496219"/>
                <a:ext cx="202407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202407" h="188913">
                    <a:moveTo>
                      <a:pt x="80963" y="188913"/>
                    </a:moveTo>
                    <a:lnTo>
                      <a:pt x="155178" y="188913"/>
                    </a:lnTo>
                    <a:cubicBezTo>
                      <a:pt x="181262" y="188913"/>
                      <a:pt x="202407" y="167768"/>
                      <a:pt x="202407" y="141685"/>
                    </a:cubicBezTo>
                    <a:cubicBezTo>
                      <a:pt x="202407" y="115601"/>
                      <a:pt x="181262" y="94456"/>
                      <a:pt x="155178" y="94456"/>
                    </a:cubicBezTo>
                    <a:lnTo>
                      <a:pt x="47228" y="94456"/>
                    </a:lnTo>
                    <a:cubicBezTo>
                      <a:pt x="21145" y="94456"/>
                      <a:pt x="0" y="73312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107950" y="0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600456" y="189865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记忆对象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381756" y="189865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内容与图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63056" y="189865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单后端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944356" y="189865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编排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609600" y="2286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01218" y="2482850"/>
              <a:ext cx="13494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MemoryUnit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3504" y="2774950"/>
              <a:ext cx="226771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uid / raw_data / metadata</a:t>
              </a:r>
              <a:b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embedding / sparse_embedding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1218" y="3416300"/>
              <a:ext cx="15365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MemorySpace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3504" y="3708400"/>
              <a:ext cx="12313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name / unit_uids</a:t>
              </a:r>
              <a:b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child_spaces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382518" y="2482850"/>
              <a:ext cx="14776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SemanticMap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384804" y="2774950"/>
              <a:ext cx="236677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memory_units / memory_spaces</a:t>
              </a:r>
              <a:b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FAISS / sparse / BM25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382518" y="3416300"/>
              <a:ext cx="16871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SemanticGraph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384804" y="3708400"/>
              <a:ext cx="197053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nodes / edges / UID ↔ index</a:t>
              </a:r>
              <a:b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explicit neighbors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163818" y="2482850"/>
              <a:ext cx="16400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BaseRetriever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166104" y="2800350"/>
              <a:ext cx="1878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search() / method type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163818" y="3187700"/>
              <a:ext cx="6081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BM25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163818" y="3435350"/>
              <a:ext cx="7348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Cosine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163818" y="3683000"/>
              <a:ext cx="8299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SPLADE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163818" y="3930650"/>
              <a:ext cx="6654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Graph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945118" y="2482850"/>
              <a:ext cx="16978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MultiRetriever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947404" y="2800350"/>
              <a:ext cx="1974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lazy load / smart_search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945118" y="3187700"/>
              <a:ext cx="13834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ScoreFusion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947404" y="3505200"/>
              <a:ext cx="19934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RRF / weighted / average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945118" y="3835400"/>
              <a:ext cx="20024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RerankerManager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947404" y="4152900"/>
              <a:ext cx="17084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local / remote rerank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609600" y="5219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02742" y="541655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入口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212342" y="5416550"/>
              <a:ext cx="43208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retrieval/advance_retriever.py · smart_search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02742" y="5683250"/>
              <a:ext cx="29612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同一条 UID 贯穿对象、索引和图关系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604266" y="6521450"/>
            <a:ext cx="10983468" cy="205359"/>
            <a:chOff x="604266" y="6521450"/>
            <a:chExt cx="10983468" cy="205359"/>
          </a:xfrm>
        </p:grpSpPr>
        <p:sp>
          <p:nvSpPr>
            <p:cNvPr id="57" name="TextBox 57"/>
            <p:cNvSpPr txBox="1"/>
            <p:nvPr/>
          </p:nvSpPr>
          <p:spPr>
            <a:xfrm>
              <a:off x="604266" y="65214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12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728960" y="652145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检索代码地图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609600" y="64008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grpSp>
        <p:nvGrpSpPr>
          <p:cNvPr id="5" name="title"/>
          <p:cNvGrpSpPr/>
          <p:nvPr/>
        </p:nvGrpSpPr>
        <p:grpSpPr>
          <a:xfrm>
            <a:off x="593598" y="234950"/>
            <a:ext cx="3635611" cy="783198"/>
            <a:chOff x="593598" y="234950"/>
            <a:chExt cx="3635611" cy="783198"/>
          </a:xfrm>
        </p:grpSpPr>
        <p:sp>
          <p:nvSpPr>
            <p:cNvPr id="3" name="TextBox 3"/>
            <p:cNvSpPr txBox="1"/>
            <p:nvPr/>
          </p:nvSpPr>
          <p:spPr>
            <a:xfrm>
              <a:off x="604266" y="234950"/>
              <a:ext cx="10545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· 核心对象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533400"/>
              <a:ext cx="3635611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3150" b="1" dirty="0">
                  <a:solidFill>
                    <a:schemeClr val="accent1"/>
                  </a:solidFill>
                </a:rPr>
                <a:t>检索部分的重要对象</a:t>
              </a:r>
              <a:endParaRPr lang="zh-CN" altLang="zh-CN" sz="3150" b="1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9" name="key-points"/>
          <p:cNvGrpSpPr/>
          <p:nvPr/>
        </p:nvGrpSpPr>
        <p:grpSpPr>
          <a:xfrm>
            <a:off x="601218" y="1473200"/>
            <a:ext cx="4840129" cy="932307"/>
            <a:chOff x="601218" y="1473200"/>
            <a:chExt cx="4840129" cy="932307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473200"/>
              <a:ext cx="33232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统一 UID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：内容与图共享同一标识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218" y="1778000"/>
              <a:ext cx="48401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QueryBundle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：三个后端复用同一份 query 特征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1218" y="2082800"/>
              <a:ext cx="39190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MultiRetriever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：只编排，不拥有内容</a:t>
              </a:r>
            </a:p>
          </p:txBody>
        </p:sp>
      </p:grpSp>
      <p:grpSp>
        <p:nvGrpSpPr>
          <p:cNvPr id="32" name="object-chain"/>
          <p:cNvGrpSpPr/>
          <p:nvPr/>
        </p:nvGrpSpPr>
        <p:grpSpPr>
          <a:xfrm>
            <a:off x="602742" y="2692400"/>
            <a:ext cx="5112258" cy="3390646"/>
            <a:chOff x="602742" y="2692400"/>
            <a:chExt cx="5112258" cy="3390646"/>
          </a:xfrm>
        </p:grpSpPr>
        <p:sp>
          <p:nvSpPr>
            <p:cNvPr id="10" name="TextBox 10"/>
            <p:cNvSpPr txBox="1"/>
            <p:nvPr/>
          </p:nvSpPr>
          <p:spPr>
            <a:xfrm>
              <a:off x="602742" y="269240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从内容到编排的五个对象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38200" y="3048000"/>
              <a:ext cx="1" cy="2990850"/>
            </a:xfrm>
            <a:prstGeom prst="line">
              <a:avLst/>
            </a:prstGeom>
            <a:noFill/>
            <a:ln w="14288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2" name="Ellipse 12"/>
            <p:cNvSpPr/>
            <p:nvPr/>
          </p:nvSpPr>
          <p:spPr>
            <a:xfrm>
              <a:off x="800100" y="31623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800100" y="38100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800100" y="44577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800100" y="51054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800100" y="57531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143000" y="2971800"/>
              <a:ext cx="4572000" cy="45720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87018" y="3035300"/>
              <a:ext cx="13494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MemoryUnit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89304" y="3257550"/>
              <a:ext cx="30734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uid · raw_data · metadata · embedding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143000" y="3619500"/>
              <a:ext cx="4572000" cy="45720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287018" y="3683000"/>
              <a:ext cx="34187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SemanticMap / SemanticGraph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89304" y="3905250"/>
              <a:ext cx="28169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FAISS / SPLADE / BM25 / rustworkx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143000" y="4267200"/>
              <a:ext cx="4572000" cy="45720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287018" y="4330700"/>
              <a:ext cx="16400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BaseRetriever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89304" y="4552950"/>
              <a:ext cx="24992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BM25 · Cosine · SPLADE · Graph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143000" y="4914900"/>
              <a:ext cx="4572000" cy="45720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287018" y="4978400"/>
              <a:ext cx="16978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MultiRetriever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89304" y="5200650"/>
              <a:ext cx="33319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lazy load · parallel search · smart_search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143000" y="5562600"/>
              <a:ext cx="4572000" cy="45720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287018" y="5626100"/>
              <a:ext cx="36397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ScoreFusion / RerankerManager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89304" y="5848350"/>
              <a:ext cx="25264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RRF · weighted · cross-encoder</a:t>
              </a:r>
            </a:p>
          </p:txBody>
        </p:sp>
      </p:grpSp>
      <p:grpSp>
        <p:nvGrpSpPr>
          <p:cNvPr id="37" name="object-map"/>
          <p:cNvGrpSpPr/>
          <p:nvPr/>
        </p:nvGrpSpPr>
        <p:grpSpPr>
          <a:xfrm>
            <a:off x="5892448" y="163641"/>
            <a:ext cx="6146005" cy="6126033"/>
            <a:chOff x="5892450" y="1333500"/>
            <a:chExt cx="5853689" cy="4686300"/>
          </a:xfrm>
        </p:grpSpPr>
        <p:sp>
          <p:nvSpPr>
            <p:cNvPr id="33" name="Rectangle 33"/>
            <p:cNvSpPr/>
            <p:nvPr/>
          </p:nvSpPr>
          <p:spPr>
            <a:xfrm>
              <a:off x="5892450" y="1333500"/>
              <a:ext cx="5853689" cy="468630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33122" y="1740188"/>
              <a:ext cx="5763582" cy="3827018"/>
            </a:xfrm>
            <a:prstGeom prst="rect">
              <a:avLst/>
            </a:prstGeom>
          </p:spPr>
        </p:pic>
        <p:sp>
          <p:nvSpPr>
            <p:cNvPr id="35" name="TextBox 35"/>
            <p:cNvSpPr txBox="1"/>
            <p:nvPr/>
          </p:nvSpPr>
          <p:spPr>
            <a:xfrm>
              <a:off x="6026952" y="5769654"/>
              <a:ext cx="989341" cy="1236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图 2 · 对象关系）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604266" y="6521450"/>
            <a:ext cx="10983468" cy="205359"/>
            <a:chOff x="604266" y="6521450"/>
            <a:chExt cx="10983468" cy="205359"/>
          </a:xfrm>
        </p:grpSpPr>
        <p:sp>
          <p:nvSpPr>
            <p:cNvPr id="38" name="TextBox 38"/>
            <p:cNvSpPr txBox="1"/>
            <p:nvPr/>
          </p:nvSpPr>
          <p:spPr>
            <a:xfrm>
              <a:off x="604266" y="65214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12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728960" y="652145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核心对象关系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609600" y="64008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grpSp>
        <p:nvGrpSpPr>
          <p:cNvPr id="5" name="title"/>
          <p:cNvGrpSpPr/>
          <p:nvPr/>
        </p:nvGrpSpPr>
        <p:grpSpPr>
          <a:xfrm>
            <a:off x="593598" y="234950"/>
            <a:ext cx="3613169" cy="783198"/>
            <a:chOff x="593598" y="234950"/>
            <a:chExt cx="3613169" cy="783198"/>
          </a:xfrm>
        </p:grpSpPr>
        <p:sp>
          <p:nvSpPr>
            <p:cNvPr id="3" name="TextBox 3"/>
            <p:cNvSpPr txBox="1"/>
            <p:nvPr/>
          </p:nvSpPr>
          <p:spPr>
            <a:xfrm>
              <a:off x="604266" y="234950"/>
              <a:ext cx="10545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· 执行流程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533400"/>
              <a:ext cx="3613169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目前</a:t>
              </a:r>
              <a:r>
                <a:rPr lang="en-US" alt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Mandol</a:t>
              </a:r>
              <a:r>
                <a:rPr lang="zh-CN" altLang="en-US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的流程</a:t>
              </a:r>
              <a:endParaRPr lang="zh-CN" sz="31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28" name="main-flow"/>
          <p:cNvGrpSpPr/>
          <p:nvPr/>
        </p:nvGrpSpPr>
        <p:grpSpPr>
          <a:xfrm>
            <a:off x="602742" y="1435100"/>
            <a:ext cx="6695837" cy="755650"/>
            <a:chOff x="602742" y="1435100"/>
            <a:chExt cx="6695837" cy="755650"/>
          </a:xfrm>
        </p:grpSpPr>
        <p:sp>
          <p:nvSpPr>
            <p:cNvPr id="6" name="TextBox 6"/>
            <p:cNvSpPr txBox="1"/>
            <p:nvPr/>
          </p:nvSpPr>
          <p:spPr>
            <a:xfrm>
              <a:off x="602742" y="143510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主链路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1695450"/>
              <a:ext cx="1047750" cy="49530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17288" y="1863725"/>
              <a:ext cx="4323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Query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657350" y="1943100"/>
              <a:ext cx="133350" cy="1"/>
            </a:xfrm>
            <a:prstGeom prst="line">
              <a:avLst/>
            </a:prstGeom>
            <a:noFill/>
            <a:ln w="14288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809750" y="1695450"/>
              <a:ext cx="1047750" cy="49530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117438" y="1806575"/>
              <a:ext cx="4323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Query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10697" y="1978025"/>
              <a:ext cx="445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Bundle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2857500" y="1943100"/>
              <a:ext cx="133350" cy="1"/>
            </a:xfrm>
            <a:prstGeom prst="line">
              <a:avLst/>
            </a:prstGeom>
            <a:noFill/>
            <a:ln w="14288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4" name="Rectangle 14"/>
            <p:cNvSpPr/>
            <p:nvPr/>
          </p:nvSpPr>
          <p:spPr>
            <a:xfrm>
              <a:off x="3009900" y="1695450"/>
              <a:ext cx="1047750" cy="49530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072384" y="1768475"/>
              <a:ext cx="9227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BM25 / Dense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82010" y="1939925"/>
              <a:ext cx="5035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SPLADE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4057650" y="1943100"/>
              <a:ext cx="133350" cy="1"/>
            </a:xfrm>
            <a:prstGeom prst="line">
              <a:avLst/>
            </a:prstGeom>
            <a:noFill/>
            <a:ln w="14288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210050" y="1695450"/>
              <a:ext cx="1047750" cy="49530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605376" y="1806575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RRF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87240" y="197802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融合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5257800" y="1943100"/>
              <a:ext cx="133350" cy="1"/>
            </a:xfrm>
            <a:prstGeom prst="line">
              <a:avLst/>
            </a:prstGeom>
            <a:noFill/>
            <a:ln w="14288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10200" y="1695450"/>
              <a:ext cx="1047750" cy="49530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693312" y="1806575"/>
              <a:ext cx="4815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Rerank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87390" y="197802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可选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969871" y="1863725"/>
              <a:ext cx="328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F7F3EA"/>
                  </a:solidFill>
                  <a:latin typeface="+mn-lt"/>
                  <a:ea typeface="+mn-ea"/>
                  <a:cs typeface="+mn-cs"/>
                </a:rPr>
                <a:t>final</a:t>
              </a:r>
            </a:p>
          </p:txBody>
        </p:sp>
      </p:grpSp>
      <p:grpSp>
        <p:nvGrpSpPr>
          <p:cNvPr id="55" name="breakpoints"/>
          <p:cNvGrpSpPr/>
          <p:nvPr/>
        </p:nvGrpSpPr>
        <p:grpSpPr>
          <a:xfrm>
            <a:off x="602742" y="2825750"/>
            <a:ext cx="5652402" cy="3312033"/>
            <a:chOff x="602742" y="2825750"/>
            <a:chExt cx="5652402" cy="3312033"/>
          </a:xfrm>
        </p:grpSpPr>
        <p:sp>
          <p:nvSpPr>
            <p:cNvPr id="29" name="TextBox 29"/>
            <p:cNvSpPr txBox="1"/>
            <p:nvPr/>
          </p:nvSpPr>
          <p:spPr>
            <a:xfrm>
              <a:off x="602742" y="28257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三个断点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09600" y="3181350"/>
              <a:ext cx="38100" cy="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819859" y="3285078"/>
              <a:ext cx="208123" cy="178805"/>
              <a:chOff x="819859" y="3285078"/>
              <a:chExt cx="208123" cy="17880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923925" y="3350418"/>
                <a:ext cx="95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275">
                    <a:moveTo>
                      <a:pt x="0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19859" y="3285078"/>
                <a:ext cx="208123" cy="178805"/>
              </a:xfrm>
              <a:custGeom>
                <a:avLst/>
                <a:gdLst/>
                <a:ahLst/>
                <a:cxnLst/>
                <a:rect l="l" t="t" r="r" b="b"/>
                <a:pathLst>
                  <a:path w="208123" h="178805">
                    <a:moveTo>
                      <a:pt x="87174" y="9526"/>
                    </a:moveTo>
                    <a:lnTo>
                      <a:pt x="3530" y="149180"/>
                    </a:lnTo>
                    <a:cubicBezTo>
                      <a:pt x="21" y="155256"/>
                      <a:pt x="0" y="162738"/>
                      <a:pt x="3474" y="168834"/>
                    </a:cubicBezTo>
                    <a:cubicBezTo>
                      <a:pt x="6948" y="174931"/>
                      <a:pt x="13395" y="178726"/>
                      <a:pt x="20412" y="178805"/>
                    </a:cubicBezTo>
                    <a:lnTo>
                      <a:pt x="187719" y="178805"/>
                    </a:lnTo>
                    <a:cubicBezTo>
                      <a:pt x="194732" y="178724"/>
                      <a:pt x="201176" y="174930"/>
                      <a:pt x="204650" y="168837"/>
                    </a:cubicBezTo>
                    <a:cubicBezTo>
                      <a:pt x="208123" y="162744"/>
                      <a:pt x="208104" y="155266"/>
                      <a:pt x="204601" y="149190"/>
                    </a:cubicBezTo>
                    <a:lnTo>
                      <a:pt x="120957" y="9516"/>
                    </a:lnTo>
                    <a:cubicBezTo>
                      <a:pt x="117378" y="3609"/>
                      <a:pt x="110973" y="0"/>
                      <a:pt x="104065" y="0"/>
                    </a:cubicBezTo>
                    <a:cubicBezTo>
                      <a:pt x="97158" y="0"/>
                      <a:pt x="90753" y="3609"/>
                      <a:pt x="87174" y="9516"/>
                    </a:cubicBez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923925" y="342264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03" y="0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153668" y="3225800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塔编排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5192" y="3530600"/>
              <a:ext cx="4055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自托管 retrieve.py 绕过 TripleTowerRetriever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5954" y="375285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论文路径的塔路由与剪枝，不在自托管主链路上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09600" y="4095750"/>
              <a:ext cx="38100" cy="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819859" y="4199478"/>
              <a:ext cx="208123" cy="178805"/>
              <a:chOff x="819859" y="4199478"/>
              <a:chExt cx="208123" cy="17880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923925" y="4264818"/>
                <a:ext cx="95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275">
                    <a:moveTo>
                      <a:pt x="0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19859" y="4199478"/>
                <a:ext cx="208123" cy="178805"/>
              </a:xfrm>
              <a:custGeom>
                <a:avLst/>
                <a:gdLst/>
                <a:ahLst/>
                <a:cxnLst/>
                <a:rect l="l" t="t" r="r" b="b"/>
                <a:pathLst>
                  <a:path w="208123" h="178805">
                    <a:moveTo>
                      <a:pt x="87174" y="9526"/>
                    </a:moveTo>
                    <a:lnTo>
                      <a:pt x="3530" y="149180"/>
                    </a:lnTo>
                    <a:cubicBezTo>
                      <a:pt x="21" y="155256"/>
                      <a:pt x="0" y="162738"/>
                      <a:pt x="3474" y="168834"/>
                    </a:cubicBezTo>
                    <a:cubicBezTo>
                      <a:pt x="6948" y="174931"/>
                      <a:pt x="13395" y="178726"/>
                      <a:pt x="20412" y="178805"/>
                    </a:cubicBezTo>
                    <a:lnTo>
                      <a:pt x="187719" y="178805"/>
                    </a:lnTo>
                    <a:cubicBezTo>
                      <a:pt x="194732" y="178724"/>
                      <a:pt x="201176" y="174930"/>
                      <a:pt x="204650" y="168837"/>
                    </a:cubicBezTo>
                    <a:cubicBezTo>
                      <a:pt x="208123" y="162744"/>
                      <a:pt x="208104" y="155266"/>
                      <a:pt x="204601" y="149190"/>
                    </a:cubicBezTo>
                    <a:lnTo>
                      <a:pt x="120957" y="9516"/>
                    </a:lnTo>
                    <a:cubicBezTo>
                      <a:pt x="117378" y="3609"/>
                      <a:pt x="110973" y="0"/>
                      <a:pt x="104065" y="0"/>
                    </a:cubicBezTo>
                    <a:cubicBezTo>
                      <a:pt x="97158" y="0"/>
                      <a:pt x="90753" y="3609"/>
                      <a:pt x="87174" y="9516"/>
                    </a:cubicBez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23925" y="433704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03" y="0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153668" y="4140200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图扩展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5192" y="4445000"/>
              <a:ext cx="50999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graph_expander = None，enable_graph_expansion 是空操作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5954" y="4667250"/>
              <a:ext cx="47306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GraphContextExpander 存在，但 MultiRetriever 没有初始化它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09600" y="5010150"/>
              <a:ext cx="38100" cy="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819859" y="5113878"/>
              <a:ext cx="208123" cy="178805"/>
              <a:chOff x="819859" y="5113878"/>
              <a:chExt cx="208123" cy="178805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923925" y="5179218"/>
                <a:ext cx="95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275">
                    <a:moveTo>
                      <a:pt x="0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19859" y="5113878"/>
                <a:ext cx="208123" cy="178805"/>
              </a:xfrm>
              <a:custGeom>
                <a:avLst/>
                <a:gdLst/>
                <a:ahLst/>
                <a:cxnLst/>
                <a:rect l="l" t="t" r="r" b="b"/>
                <a:pathLst>
                  <a:path w="208123" h="178805">
                    <a:moveTo>
                      <a:pt x="87174" y="9526"/>
                    </a:moveTo>
                    <a:lnTo>
                      <a:pt x="3530" y="149180"/>
                    </a:lnTo>
                    <a:cubicBezTo>
                      <a:pt x="21" y="155256"/>
                      <a:pt x="0" y="162738"/>
                      <a:pt x="3474" y="168834"/>
                    </a:cubicBezTo>
                    <a:cubicBezTo>
                      <a:pt x="6948" y="174931"/>
                      <a:pt x="13395" y="178726"/>
                      <a:pt x="20412" y="178805"/>
                    </a:cubicBezTo>
                    <a:lnTo>
                      <a:pt x="187719" y="178805"/>
                    </a:lnTo>
                    <a:cubicBezTo>
                      <a:pt x="194732" y="178724"/>
                      <a:pt x="201176" y="174930"/>
                      <a:pt x="204650" y="168837"/>
                    </a:cubicBezTo>
                    <a:cubicBezTo>
                      <a:pt x="208123" y="162744"/>
                      <a:pt x="208104" y="155266"/>
                      <a:pt x="204601" y="149190"/>
                    </a:cubicBezTo>
                    <a:lnTo>
                      <a:pt x="120957" y="9516"/>
                    </a:lnTo>
                    <a:cubicBezTo>
                      <a:pt x="117378" y="3609"/>
                      <a:pt x="110973" y="0"/>
                      <a:pt x="104065" y="0"/>
                    </a:cubicBezTo>
                    <a:cubicBezTo>
                      <a:pt x="97158" y="0"/>
                      <a:pt x="90753" y="3609"/>
                      <a:pt x="87174" y="9516"/>
                    </a:cubicBez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923925" y="525144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03" y="0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153668" y="5054600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融合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5192" y="5359400"/>
              <a:ext cx="29715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默认 RRF / 固定权重；没有条件输入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5954" y="558165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实体、时间、关系不会改变方法权重或塔权重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02742" y="5873750"/>
              <a:ext cx="2232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代码能力存在 ≠ 主链路生效</a:t>
              </a:r>
            </a:p>
          </p:txBody>
        </p:sp>
      </p:grpSp>
      <p:grpSp>
        <p:nvGrpSpPr>
          <p:cNvPr id="61" name="tower-figure"/>
          <p:cNvGrpSpPr/>
          <p:nvPr/>
        </p:nvGrpSpPr>
        <p:grpSpPr>
          <a:xfrm>
            <a:off x="6741062" y="131191"/>
            <a:ext cx="4917537" cy="6205823"/>
            <a:chOff x="8096250" y="1380624"/>
            <a:chExt cx="3486150" cy="4233292"/>
          </a:xfrm>
        </p:grpSpPr>
        <p:sp>
          <p:nvSpPr>
            <p:cNvPr id="56" name="Rectangle 56"/>
            <p:cNvSpPr/>
            <p:nvPr/>
          </p:nvSpPr>
          <p:spPr>
            <a:xfrm>
              <a:off x="8096250" y="1380624"/>
              <a:ext cx="3486150" cy="33337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57" name="Image 5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72450" y="1524000"/>
              <a:ext cx="3333750" cy="2971800"/>
            </a:xfrm>
            <a:prstGeom prst="rect">
              <a:avLst/>
            </a:prstGeom>
          </p:spPr>
        </p:pic>
        <p:sp>
          <p:nvSpPr>
            <p:cNvPr id="58" name="TextBox 58"/>
            <p:cNvSpPr txBox="1"/>
            <p:nvPr/>
          </p:nvSpPr>
          <p:spPr>
            <a:xfrm>
              <a:off x="8167116" y="4730750"/>
              <a:ext cx="904094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图 4 · 三塔流程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166354" y="4978400"/>
              <a:ext cx="203911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论文路径：路由 → 三塔 → 合并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剪枝 → 统一 rerank。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166354" y="5429250"/>
              <a:ext cx="138499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自托管路径不经过它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604266" y="6521450"/>
            <a:ext cx="10983468" cy="205359"/>
            <a:chOff x="604266" y="6521450"/>
            <a:chExt cx="10983468" cy="205359"/>
          </a:xfrm>
        </p:grpSpPr>
        <p:sp>
          <p:nvSpPr>
            <p:cNvPr id="62" name="TextBox 62"/>
            <p:cNvSpPr txBox="1"/>
            <p:nvPr/>
          </p:nvSpPr>
          <p:spPr>
            <a:xfrm>
              <a:off x="604266" y="65214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12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446258" y="65214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主链路与代码断点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609600" y="64008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grpSp>
        <p:nvGrpSpPr>
          <p:cNvPr id="5" name="title"/>
          <p:cNvGrpSpPr/>
          <p:nvPr/>
        </p:nvGrpSpPr>
        <p:grpSpPr>
          <a:xfrm>
            <a:off x="593598" y="234950"/>
            <a:ext cx="2423740" cy="783198"/>
            <a:chOff x="593598" y="234950"/>
            <a:chExt cx="2423740" cy="783198"/>
          </a:xfrm>
        </p:grpSpPr>
        <p:sp>
          <p:nvSpPr>
            <p:cNvPr id="3" name="TextBox 3"/>
            <p:cNvSpPr txBox="1"/>
            <p:nvPr/>
          </p:nvSpPr>
          <p:spPr>
            <a:xfrm>
              <a:off x="604266" y="234950"/>
              <a:ext cx="7314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 · 评测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533400"/>
              <a:ext cx="2423740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现有评测</a:t>
              </a:r>
              <a:r>
                <a:rPr lang="zh-CN" altLang="en-US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缺口</a:t>
              </a:r>
              <a:endParaRPr lang="zh-CN" sz="31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8" name="pipeline"/>
          <p:cNvGrpSpPr/>
          <p:nvPr/>
        </p:nvGrpSpPr>
        <p:grpSpPr>
          <a:xfrm>
            <a:off x="602742" y="1435100"/>
            <a:ext cx="10446258" cy="793750"/>
            <a:chOff x="602742" y="1435100"/>
            <a:chExt cx="10446258" cy="793750"/>
          </a:xfrm>
        </p:grpSpPr>
        <p:sp>
          <p:nvSpPr>
            <p:cNvPr id="6" name="TextBox 6"/>
            <p:cNvSpPr txBox="1"/>
            <p:nvPr/>
          </p:nvSpPr>
          <p:spPr>
            <a:xfrm>
              <a:off x="602742" y="1435100"/>
              <a:ext cx="20759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自托管 LoCoMo10 评测链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1714500"/>
              <a:ext cx="2381250" cy="5143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32249" y="1847850"/>
              <a:ext cx="1135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build_graph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2990850" y="1971675"/>
              <a:ext cx="266700" cy="1"/>
            </a:xfrm>
            <a:prstGeom prst="line">
              <a:avLst/>
            </a:prstGeom>
            <a:noFill/>
            <a:ln w="14288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0" name="Rectangle 10"/>
            <p:cNvSpPr/>
            <p:nvPr/>
          </p:nvSpPr>
          <p:spPr>
            <a:xfrm>
              <a:off x="3295650" y="1714500"/>
              <a:ext cx="2381250" cy="5143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059650" y="1847850"/>
              <a:ext cx="853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retrieve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5676900" y="1971675"/>
              <a:ext cx="266700" cy="1"/>
            </a:xfrm>
            <a:prstGeom prst="line">
              <a:avLst/>
            </a:prstGeom>
            <a:noFill/>
            <a:ln w="14288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981700" y="1714500"/>
              <a:ext cx="2381250" cy="5143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720459" y="1847850"/>
              <a:ext cx="9037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generate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8362950" y="1971675"/>
              <a:ext cx="266700" cy="1"/>
            </a:xfrm>
            <a:prstGeom prst="line">
              <a:avLst/>
            </a:prstGeom>
            <a:noFill/>
            <a:ln w="14288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6" name="Rectangle 16"/>
            <p:cNvSpPr/>
            <p:nvPr/>
          </p:nvSpPr>
          <p:spPr>
            <a:xfrm>
              <a:off x="8667750" y="1714500"/>
              <a:ext cx="2381250" cy="5143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573101" y="1847850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score</a:t>
              </a:r>
            </a:p>
          </p:txBody>
        </p:sp>
      </p:grpSp>
      <p:grpSp>
        <p:nvGrpSpPr>
          <p:cNvPr id="30" name="can-cannot"/>
          <p:cNvGrpSpPr/>
          <p:nvPr/>
        </p:nvGrpSpPr>
        <p:grpSpPr>
          <a:xfrm>
            <a:off x="600456" y="2889250"/>
            <a:ext cx="10981944" cy="2031746"/>
            <a:chOff x="600456" y="2889250"/>
            <a:chExt cx="10981944" cy="2031746"/>
          </a:xfrm>
        </p:grpSpPr>
        <p:sp>
          <p:nvSpPr>
            <p:cNvPr id="19" name="TextBox 19"/>
            <p:cNvSpPr txBox="1"/>
            <p:nvPr/>
          </p:nvSpPr>
          <p:spPr>
            <a:xfrm>
              <a:off x="600456" y="288925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能测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77356" y="288925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测不到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09600" y="323850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6286500" y="3238500"/>
              <a:ext cx="5295900" cy="9525"/>
            </a:xfrm>
            <a:custGeom>
              <a:avLst/>
              <a:gdLst/>
              <a:ahLst/>
              <a:cxnLst/>
              <a:rect l="l" t="t" r="r" b="b"/>
              <a:pathLst>
                <a:path w="5295900" h="9525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1218" y="3435350"/>
              <a:ext cx="21814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QA 分数与 LLM judge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1218" y="3835400"/>
              <a:ext cx="23461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延迟 / QPS 与构建成本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78118" y="3435350"/>
              <a:ext cx="31931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实体 / 时间 / 关系条件为何失败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78118" y="3835400"/>
              <a:ext cx="34452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BM25 / dense / SPLADE 各自贡献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78118" y="4235450"/>
              <a:ext cx="34596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图扩展是否带来新的 dialogue 证据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80404" y="468630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总分相同，可能对应完全不同的失败机制。</a:t>
              </a:r>
            </a:p>
          </p:txBody>
        </p:sp>
      </p:grpSp>
      <p:grpSp>
        <p:nvGrpSpPr>
          <p:cNvPr id="32" name="gap"/>
          <p:cNvGrpSpPr/>
          <p:nvPr/>
        </p:nvGrpSpPr>
        <p:grpSpPr>
          <a:xfrm>
            <a:off x="601218" y="5664200"/>
            <a:ext cx="6333837" cy="322707"/>
            <a:chOff x="601218" y="5664200"/>
            <a:chExt cx="6333837" cy="322707"/>
          </a:xfrm>
        </p:grpSpPr>
        <p:sp>
          <p:nvSpPr>
            <p:cNvPr id="31" name="TextBox 31"/>
            <p:cNvSpPr txBox="1"/>
            <p:nvPr/>
          </p:nvSpPr>
          <p:spPr>
            <a:xfrm>
              <a:off x="601218" y="5664200"/>
              <a:ext cx="63338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缺口：条件级 probe ＋ 方法级 ablation ＋ FAR / abstention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604266" y="6521450"/>
            <a:ext cx="10983468" cy="205359"/>
            <a:chOff x="604266" y="6521450"/>
            <a:chExt cx="10983468" cy="205359"/>
          </a:xfrm>
        </p:grpSpPr>
        <p:sp>
          <p:nvSpPr>
            <p:cNvPr id="33" name="TextBox 33"/>
            <p:cNvSpPr txBox="1"/>
            <p:nvPr/>
          </p:nvSpPr>
          <p:spPr>
            <a:xfrm>
              <a:off x="604266" y="65214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587609" y="65214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测试与评价代码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609600" y="64008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grpSp>
        <p:nvGrpSpPr>
          <p:cNvPr id="5" name="title"/>
          <p:cNvGrpSpPr/>
          <p:nvPr/>
        </p:nvGrpSpPr>
        <p:grpSpPr>
          <a:xfrm>
            <a:off x="593598" y="234950"/>
            <a:ext cx="7664958" cy="914527"/>
            <a:chOff x="593598" y="234950"/>
            <a:chExt cx="7664958" cy="914527"/>
          </a:xfrm>
        </p:grpSpPr>
        <p:sp>
          <p:nvSpPr>
            <p:cNvPr id="3" name="TextBox 3"/>
            <p:cNvSpPr txBox="1"/>
            <p:nvPr/>
          </p:nvSpPr>
          <p:spPr>
            <a:xfrm>
              <a:off x="604266" y="234950"/>
              <a:ext cx="8929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06 · 预实验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533400"/>
              <a:ext cx="766495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候选覆盖已经饱和，最终排序仍然漏证据</a:t>
              </a:r>
            </a:p>
          </p:txBody>
        </p:sp>
      </p:grpSp>
      <p:grpSp>
        <p:nvGrpSpPr>
          <p:cNvPr id="22" name="metrics"/>
          <p:cNvGrpSpPr/>
          <p:nvPr/>
        </p:nvGrpSpPr>
        <p:grpSpPr>
          <a:xfrm>
            <a:off x="590550" y="1644650"/>
            <a:ext cx="9378315" cy="2857246"/>
            <a:chOff x="590550" y="1644650"/>
            <a:chExt cx="9378315" cy="2857246"/>
          </a:xfrm>
        </p:grpSpPr>
        <p:sp>
          <p:nvSpPr>
            <p:cNvPr id="6" name="TextBox 6"/>
            <p:cNvSpPr txBox="1"/>
            <p:nvPr/>
          </p:nvSpPr>
          <p:spPr>
            <a:xfrm>
              <a:off x="602742" y="1644650"/>
              <a:ext cx="26436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Tier A · 11 条正样本 · conv-26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3943350" y="209550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7620000" y="209550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0550" y="2292350"/>
              <a:ext cx="2137162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1.000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09600" y="3105150"/>
              <a:ext cx="800100" cy="2857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01218" y="3282950"/>
              <a:ext cx="26147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first-stage union R@10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2742" y="3625850"/>
              <a:ext cx="2112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候选覆盖：所有 gold 都在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67200" y="2292350"/>
              <a:ext cx="2137162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0.765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286250" y="3105150"/>
              <a:ext cx="6096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277868" y="3282950"/>
              <a:ext cx="17867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final union R@10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79392" y="3625850"/>
              <a:ext cx="22399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最终可见证据：仍漏 23.5%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43850" y="2292350"/>
              <a:ext cx="1717350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0.50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962900" y="3105150"/>
              <a:ext cx="4572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954518" y="3282950"/>
              <a:ext cx="15375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final nDCG@10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56042" y="362585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排序位置：仍有一半空间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3504" y="4267200"/>
              <a:ext cx="60054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统一口径：baseline_direct 与 high_recall 均为 199/199 成功；hit@10 = 1.000。</a:t>
              </a:r>
            </a:p>
          </p:txBody>
        </p:sp>
      </p:grpSp>
      <p:grpSp>
        <p:nvGrpSpPr>
          <p:cNvPr id="26" name="reading"/>
          <p:cNvGrpSpPr/>
          <p:nvPr/>
        </p:nvGrpSpPr>
        <p:grpSpPr>
          <a:xfrm>
            <a:off x="600456" y="5054600"/>
            <a:ext cx="7481621" cy="876046"/>
            <a:chOff x="600456" y="5054600"/>
            <a:chExt cx="7481621" cy="876046"/>
          </a:xfrm>
        </p:grpSpPr>
        <p:sp>
          <p:nvSpPr>
            <p:cNvPr id="23" name="TextBox 23"/>
            <p:cNvSpPr txBox="1"/>
            <p:nvPr/>
          </p:nvSpPr>
          <p:spPr>
            <a:xfrm>
              <a:off x="602742" y="50546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判断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0456" y="5346700"/>
              <a:ext cx="74816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扩大 top-k 主要增加长尾候选，没有提高最终 top-10 的 gold 覆盖。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3504" y="5695950"/>
              <a:ext cx="45838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下一步应优化条件 grounding 与排序，而不是继续扩大候选池。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604266" y="6521450"/>
            <a:ext cx="10983468" cy="205359"/>
            <a:chOff x="604266" y="6521450"/>
            <a:chExt cx="10983468" cy="205359"/>
          </a:xfrm>
        </p:grpSpPr>
        <p:sp>
          <p:nvSpPr>
            <p:cNvPr id="27" name="TextBox 27"/>
            <p:cNvSpPr txBox="1"/>
            <p:nvPr/>
          </p:nvSpPr>
          <p:spPr>
            <a:xfrm>
              <a:off x="604266" y="65214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728960" y="652145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预实验主结果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609600" y="64008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grpSp>
        <p:nvGrpSpPr>
          <p:cNvPr id="5" name="title"/>
          <p:cNvGrpSpPr/>
          <p:nvPr/>
        </p:nvGrpSpPr>
        <p:grpSpPr>
          <a:xfrm>
            <a:off x="593598" y="234950"/>
            <a:ext cx="3231654" cy="783198"/>
            <a:chOff x="593598" y="234950"/>
            <a:chExt cx="3231654" cy="783198"/>
          </a:xfrm>
        </p:grpSpPr>
        <p:sp>
          <p:nvSpPr>
            <p:cNvPr id="3" name="TextBox 3"/>
            <p:cNvSpPr txBox="1"/>
            <p:nvPr/>
          </p:nvSpPr>
          <p:spPr>
            <a:xfrm>
              <a:off x="604266" y="234950"/>
              <a:ext cx="8929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07 · 负结果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533400"/>
              <a:ext cx="3231654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被排除的候选方案</a:t>
              </a:r>
              <a:endParaRPr lang="zh-CN" sz="31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25" name="negative-grid"/>
          <p:cNvGrpSpPr/>
          <p:nvPr/>
        </p:nvGrpSpPr>
        <p:grpSpPr>
          <a:xfrm>
            <a:off x="590550" y="1524000"/>
            <a:ext cx="10991850" cy="3905250"/>
            <a:chOff x="590550" y="1524000"/>
            <a:chExt cx="10991850" cy="3905250"/>
          </a:xfrm>
        </p:grpSpPr>
        <p:sp>
          <p:nvSpPr>
            <p:cNvPr id="6" name="Line 6"/>
            <p:cNvSpPr/>
            <p:nvPr/>
          </p:nvSpPr>
          <p:spPr>
            <a:xfrm>
              <a:off x="6096000" y="1524000"/>
              <a:ext cx="9525" cy="3905250"/>
            </a:xfrm>
            <a:custGeom>
              <a:avLst/>
              <a:gdLst/>
              <a:ahLst/>
              <a:cxnLst/>
              <a:rect l="l" t="t" r="r" b="b"/>
              <a:pathLst>
                <a:path w="9525" h="3905250">
                  <a:moveTo>
                    <a:pt x="0" y="0"/>
                  </a:moveTo>
                  <a:lnTo>
                    <a:pt x="0" y="39052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" y="3524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0456" y="165100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图扩展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0550" y="1930400"/>
              <a:ext cx="457912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64742" y="2425700"/>
              <a:ext cx="1703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new_vs_graph_gold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1218" y="2749550"/>
              <a:ext cx="33597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相对 graph top-100 的 gold 增量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77356" y="165100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精确实体过滤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70498" y="2209800"/>
              <a:ext cx="125645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0.848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78118" y="2749550"/>
              <a:ext cx="3552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gold 保留率；R@10 0.697 → 0.591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0456" y="368935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软约束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1218" y="4102100"/>
              <a:ext cx="28708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LR / MLP 没有超过 baseline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1218" y="4406900"/>
              <a:ext cx="30399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FAR 偏高，abstention 不可用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77356" y="3689350"/>
              <a:ext cx="115416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b="1" dirty="0">
                  <a:solidFill>
                    <a:schemeClr val="accent2"/>
                  </a:solidFill>
                </a:rPr>
                <a:t>塔</a:t>
              </a:r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路由</a:t>
              </a:r>
              <a:r>
                <a:rPr lang="zh-CN" altLang="en-US" b="1" dirty="0">
                  <a:solidFill>
                    <a:schemeClr val="accent2"/>
                  </a:solidFill>
                </a:rPr>
                <a:t>改进</a:t>
              </a:r>
              <a:endPara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78118" y="4102100"/>
              <a:ext cx="301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Oracle +2.3 / +3.8 个百分点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78118" y="4406900"/>
              <a:ext cx="31283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查询特征预测后 R@10 仅 0.424</a:t>
              </a:r>
            </a:p>
          </p:txBody>
        </p:sp>
      </p:grpSp>
      <p:grpSp>
        <p:nvGrpSpPr>
          <p:cNvPr id="27" name="takeaway"/>
          <p:cNvGrpSpPr/>
          <p:nvPr/>
        </p:nvGrpSpPr>
        <p:grpSpPr>
          <a:xfrm>
            <a:off x="601218" y="5854700"/>
            <a:ext cx="6290073" cy="322707"/>
            <a:chOff x="601218" y="5854700"/>
            <a:chExt cx="6290073" cy="322707"/>
          </a:xfrm>
        </p:grpSpPr>
        <p:sp>
          <p:nvSpPr>
            <p:cNvPr id="26" name="TextBox 26"/>
            <p:cNvSpPr txBox="1"/>
            <p:nvPr/>
          </p:nvSpPr>
          <p:spPr>
            <a:xfrm>
              <a:off x="601218" y="5854700"/>
              <a:ext cx="62900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条件没 grounding 时，后置过滤会把噪声和 gold 一起处理掉。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604266" y="6521450"/>
            <a:ext cx="10983468" cy="205359"/>
            <a:chOff x="604266" y="6521450"/>
            <a:chExt cx="10983468" cy="205359"/>
          </a:xfrm>
        </p:grpSpPr>
        <p:sp>
          <p:nvSpPr>
            <p:cNvPr id="28" name="TextBox 28"/>
            <p:cNvSpPr txBox="1"/>
            <p:nvPr/>
          </p:nvSpPr>
          <p:spPr>
            <a:xfrm>
              <a:off x="604266" y="65214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870311" y="652145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预实验诊断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609600" y="64008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grpSp>
        <p:nvGrpSpPr>
          <p:cNvPr id="5" name="title"/>
          <p:cNvGrpSpPr/>
          <p:nvPr/>
        </p:nvGrpSpPr>
        <p:grpSpPr>
          <a:xfrm>
            <a:off x="593598" y="234950"/>
            <a:ext cx="7372361" cy="914527"/>
            <a:chOff x="593598" y="234950"/>
            <a:chExt cx="7372361" cy="914527"/>
          </a:xfrm>
        </p:grpSpPr>
        <p:sp>
          <p:nvSpPr>
            <p:cNvPr id="3" name="TextBox 3"/>
            <p:cNvSpPr txBox="1"/>
            <p:nvPr/>
          </p:nvSpPr>
          <p:spPr>
            <a:xfrm>
              <a:off x="604266" y="234950"/>
              <a:ext cx="10545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08 · 设计差异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533400"/>
              <a:ext cx="737236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从“检索信号融合”走向“条件感知融合”</a:t>
              </a:r>
            </a:p>
          </p:txBody>
        </p:sp>
      </p:grpSp>
      <p:grpSp>
        <p:nvGrpSpPr>
          <p:cNvPr id="21" name="old-flow"/>
          <p:cNvGrpSpPr/>
          <p:nvPr/>
        </p:nvGrpSpPr>
        <p:grpSpPr>
          <a:xfrm>
            <a:off x="602742" y="1435100"/>
            <a:ext cx="10751058" cy="717550"/>
            <a:chOff x="602742" y="1435100"/>
            <a:chExt cx="10751058" cy="717550"/>
          </a:xfrm>
        </p:grpSpPr>
        <p:sp>
          <p:nvSpPr>
            <p:cNvPr id="6" name="TextBox 6"/>
            <p:cNvSpPr txBox="1"/>
            <p:nvPr/>
          </p:nvSpPr>
          <p:spPr>
            <a:xfrm>
              <a:off x="602742" y="1435100"/>
              <a:ext cx="1858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原设计 · 检索信号融合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1714500"/>
              <a:ext cx="1905000" cy="4381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84145" y="1816100"/>
              <a:ext cx="5559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Query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2514600" y="1933575"/>
              <a:ext cx="266700" cy="1"/>
            </a:xfrm>
            <a:prstGeom prst="line">
              <a:avLst/>
            </a:prstGeom>
            <a:noFill/>
            <a:ln w="14288">
              <a:solidFill>
                <a:srgbClr val="6D665C"/>
              </a:solidFill>
              <a:tailEnd type="triangle" w="lg" len="lg"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819400" y="1714500"/>
              <a:ext cx="1905000" cy="4381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110079" y="1816100"/>
              <a:ext cx="13236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MultiRetriever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4724400" y="1933575"/>
              <a:ext cx="266700" cy="1"/>
            </a:xfrm>
            <a:prstGeom prst="line">
              <a:avLst/>
            </a:prstGeom>
            <a:noFill/>
            <a:ln w="14288">
              <a:solidFill>
                <a:srgbClr val="6D665C"/>
              </a:solidFill>
              <a:tailEnd type="triangle" w="lg" len="lg"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029200" y="1714500"/>
              <a:ext cx="1905000" cy="4381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16422" y="1816100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RRF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934200" y="1933575"/>
              <a:ext cx="266700" cy="1"/>
            </a:xfrm>
            <a:prstGeom prst="line">
              <a:avLst/>
            </a:prstGeom>
            <a:noFill/>
            <a:ln w="14288">
              <a:solidFill>
                <a:srgbClr val="6D665C"/>
              </a:solidFill>
              <a:tailEnd type="triangle" w="lg" len="lg"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39000" y="1714500"/>
              <a:ext cx="1905000" cy="4381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84776" y="1816100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rerank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9144000" y="1933575"/>
              <a:ext cx="266700" cy="1"/>
            </a:xfrm>
            <a:prstGeom prst="line">
              <a:avLst/>
            </a:prstGeom>
            <a:noFill/>
            <a:ln w="14288">
              <a:solidFill>
                <a:srgbClr val="6D665C"/>
              </a:solidFill>
              <a:tailEnd type="triangle" w="lg" len="lg"/>
            </a:ln>
          </p:spPr>
        </p:sp>
        <p:sp>
          <p:nvSpPr>
            <p:cNvPr id="19" name="Rectangle 19"/>
            <p:cNvSpPr/>
            <p:nvPr/>
          </p:nvSpPr>
          <p:spPr>
            <a:xfrm>
              <a:off x="9448800" y="1714500"/>
              <a:ext cx="1905000" cy="4381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189988" y="1816100"/>
              <a:ext cx="4226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F7F3EA"/>
                  </a:solidFill>
                  <a:latin typeface="+mn-lt"/>
                  <a:ea typeface="+mn-ea"/>
                  <a:cs typeface="+mn-cs"/>
                </a:rPr>
                <a:t>final</a:t>
              </a:r>
            </a:p>
          </p:txBody>
        </p:sp>
      </p:grpSp>
      <p:grpSp>
        <p:nvGrpSpPr>
          <p:cNvPr id="48" name="new-flow"/>
          <p:cNvGrpSpPr/>
          <p:nvPr/>
        </p:nvGrpSpPr>
        <p:grpSpPr>
          <a:xfrm>
            <a:off x="602742" y="2844800"/>
            <a:ext cx="10770108" cy="1616583"/>
            <a:chOff x="602742" y="2844800"/>
            <a:chExt cx="10770108" cy="1616583"/>
          </a:xfrm>
        </p:grpSpPr>
        <p:sp>
          <p:nvSpPr>
            <p:cNvPr id="22" name="TextBox 22"/>
            <p:cNvSpPr txBox="1"/>
            <p:nvPr/>
          </p:nvSpPr>
          <p:spPr>
            <a:xfrm>
              <a:off x="602742" y="2844800"/>
              <a:ext cx="1868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新设计 · 条件感知融合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09600" y="3200400"/>
              <a:ext cx="1390650" cy="533400"/>
            </a:xfrm>
            <a:prstGeom prst="rect">
              <a:avLst/>
            </a:prstGeom>
            <a:solidFill>
              <a:srgbClr val="FFFDF8"/>
            </a:solidFill>
            <a:ln w="14288">
              <a:solidFill>
                <a:schemeClr val="accent2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88738" y="3387725"/>
              <a:ext cx="4323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Query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2000250" y="3467100"/>
              <a:ext cx="133350" cy="1"/>
            </a:xfrm>
            <a:prstGeom prst="line">
              <a:avLst/>
            </a:prstGeom>
            <a:noFill/>
            <a:ln w="14288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6" name="Rectangle 26"/>
            <p:cNvSpPr/>
            <p:nvPr/>
          </p:nvSpPr>
          <p:spPr>
            <a:xfrm>
              <a:off x="2171700" y="3200400"/>
              <a:ext cx="1390650" cy="533400"/>
            </a:xfrm>
            <a:prstGeom prst="rect">
              <a:avLst/>
            </a:prstGeom>
            <a:solidFill>
              <a:srgbClr val="FFFDF8"/>
            </a:solidFill>
            <a:ln w="14288">
              <a:solidFill>
                <a:schemeClr val="accent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545207" y="3302000"/>
              <a:ext cx="6436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Condition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626262" y="3492500"/>
              <a:ext cx="4815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Parser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3562350" y="3467100"/>
              <a:ext cx="133350" cy="1"/>
            </a:xfrm>
            <a:prstGeom prst="line">
              <a:avLst/>
            </a:prstGeom>
            <a:noFill/>
            <a:ln w="14288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733800" y="3200400"/>
              <a:ext cx="1390650" cy="533400"/>
            </a:xfrm>
            <a:prstGeom prst="rect">
              <a:avLst/>
            </a:prstGeom>
            <a:solidFill>
              <a:srgbClr val="FFFDF8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128412" y="3302000"/>
              <a:ext cx="6014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Evidence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110619" y="3492500"/>
              <a:ext cx="6370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Grounder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5124450" y="3467100"/>
              <a:ext cx="133350" cy="1"/>
            </a:xfrm>
            <a:prstGeom prst="line">
              <a:avLst/>
            </a:prstGeom>
            <a:noFill/>
            <a:ln w="14288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295900" y="3200400"/>
              <a:ext cx="1390650" cy="533400"/>
            </a:xfrm>
            <a:prstGeom prst="rect">
              <a:avLst/>
            </a:prstGeom>
            <a:solidFill>
              <a:srgbClr val="FFFDF8"/>
            </a:solidFill>
            <a:ln w="14288">
              <a:solidFill>
                <a:schemeClr val="accent3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703189" y="33020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条件感知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844540" y="34925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检索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6686550" y="3467100"/>
              <a:ext cx="133350" cy="1"/>
            </a:xfrm>
            <a:prstGeom prst="line">
              <a:avLst/>
            </a:prstGeom>
            <a:noFill/>
            <a:ln w="14288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858000" y="3200400"/>
              <a:ext cx="1390650" cy="533400"/>
            </a:xfrm>
            <a:prstGeom prst="rect">
              <a:avLst/>
            </a:prstGeom>
            <a:solidFill>
              <a:srgbClr val="FFFDF8"/>
            </a:solidFill>
            <a:ln w="14288">
              <a:solidFill>
                <a:schemeClr val="accent3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265289" y="33020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条件融合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8248650" y="3467100"/>
              <a:ext cx="133350" cy="1"/>
            </a:xfrm>
            <a:prstGeom prst="line">
              <a:avLst/>
            </a:prstGeom>
            <a:noFill/>
            <a:ln w="14288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41" name="Rectangle 41"/>
            <p:cNvSpPr/>
            <p:nvPr/>
          </p:nvSpPr>
          <p:spPr>
            <a:xfrm>
              <a:off x="8420100" y="3200400"/>
              <a:ext cx="1390650" cy="533400"/>
            </a:xfrm>
            <a:prstGeom prst="rect">
              <a:avLst/>
            </a:prstGeom>
            <a:solidFill>
              <a:srgbClr val="FFFDF8"/>
            </a:solidFill>
            <a:ln w="14288">
              <a:solidFill>
                <a:schemeClr val="accent3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827389" y="33020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条件重排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9810750" y="3467100"/>
              <a:ext cx="133350" cy="1"/>
            </a:xfrm>
            <a:prstGeom prst="line">
              <a:avLst/>
            </a:prstGeom>
            <a:noFill/>
            <a:ln w="14288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44" name="Rectangle 44"/>
            <p:cNvSpPr/>
            <p:nvPr/>
          </p:nvSpPr>
          <p:spPr>
            <a:xfrm>
              <a:off x="9982200" y="3200400"/>
              <a:ext cx="1390650" cy="5334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513171" y="3387725"/>
              <a:ext cx="328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F7F3EA"/>
                  </a:solidFill>
                  <a:latin typeface="+mn-lt"/>
                  <a:ea typeface="+mn-ea"/>
                  <a:cs typeface="+mn-cs"/>
                </a:rPr>
                <a:t>final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02742" y="3930650"/>
              <a:ext cx="50023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四个新增位置：查询条件 → 证据链接 → 条件权重 → 证据校验。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02742" y="4197350"/>
              <a:ext cx="46065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图扩展、硬过滤、MLP 路由暂缓，不作为第一阶段目标。</a:t>
              </a:r>
            </a:p>
          </p:txBody>
        </p:sp>
      </p:grpSp>
      <p:grpSp>
        <p:nvGrpSpPr>
          <p:cNvPr id="58" name="additions"/>
          <p:cNvGrpSpPr/>
          <p:nvPr/>
        </p:nvGrpSpPr>
        <p:grpSpPr>
          <a:xfrm>
            <a:off x="602742" y="5105400"/>
            <a:ext cx="10979658" cy="691896"/>
            <a:chOff x="602742" y="5105400"/>
            <a:chExt cx="10979658" cy="691896"/>
          </a:xfrm>
        </p:grpSpPr>
        <p:sp>
          <p:nvSpPr>
            <p:cNvPr id="49" name="Line 49"/>
            <p:cNvSpPr/>
            <p:nvPr/>
          </p:nvSpPr>
          <p:spPr>
            <a:xfrm>
              <a:off x="609600" y="5105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02742" y="5283200"/>
              <a:ext cx="11887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ConditionSet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288792" y="5283200"/>
              <a:ext cx="11887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EvidenceLink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974842" y="5283200"/>
              <a:ext cx="1505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方法级 + 塔级权重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660892" y="52832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证据校验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03504" y="5562600"/>
              <a:ext cx="23707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实体 / 时间 / 关系 / 否定 / 状态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289554" y="5562600"/>
              <a:ext cx="1568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条件落到 L0 dialogue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975604" y="5562600"/>
              <a:ext cx="216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BM25 / dense / SPLADE / 塔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661654" y="556260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匹配、覆盖、去重、一致性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604266" y="6521450"/>
            <a:ext cx="10983468" cy="205359"/>
            <a:chOff x="604266" y="6521450"/>
            <a:chExt cx="10983468" cy="205359"/>
          </a:xfrm>
        </p:grpSpPr>
        <p:sp>
          <p:nvSpPr>
            <p:cNvPr id="59" name="TextBox 59"/>
            <p:cNvSpPr txBox="1"/>
            <p:nvPr/>
          </p:nvSpPr>
          <p:spPr>
            <a:xfrm>
              <a:off x="604266" y="65214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12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587609" y="65214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与原设计的差异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609600" y="64008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grpSp>
        <p:nvGrpSpPr>
          <p:cNvPr id="5" name="title"/>
          <p:cNvGrpSpPr/>
          <p:nvPr/>
        </p:nvGrpSpPr>
        <p:grpSpPr>
          <a:xfrm>
            <a:off x="593598" y="234950"/>
            <a:ext cx="8513064" cy="914527"/>
            <a:chOff x="593598" y="234950"/>
            <a:chExt cx="8513064" cy="914527"/>
          </a:xfrm>
        </p:grpSpPr>
        <p:sp>
          <p:nvSpPr>
            <p:cNvPr id="3" name="TextBox 3"/>
            <p:cNvSpPr txBox="1"/>
            <p:nvPr/>
          </p:nvSpPr>
          <p:spPr>
            <a:xfrm>
              <a:off x="604266" y="234950"/>
              <a:ext cx="10545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09 · 初步设计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533400"/>
              <a:ext cx="851306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三层设计：先让条件落地，再让融合用上条件</a:t>
              </a:r>
            </a:p>
          </p:txBody>
        </p:sp>
      </p:grpSp>
      <p:grpSp>
        <p:nvGrpSpPr>
          <p:cNvPr id="31" name="three-layers"/>
          <p:cNvGrpSpPr/>
          <p:nvPr/>
        </p:nvGrpSpPr>
        <p:grpSpPr>
          <a:xfrm>
            <a:off x="590550" y="1587500"/>
            <a:ext cx="9527044" cy="3746500"/>
            <a:chOff x="590550" y="1587500"/>
            <a:chExt cx="9527044" cy="3746500"/>
          </a:xfrm>
        </p:grpSpPr>
        <p:sp>
          <p:nvSpPr>
            <p:cNvPr id="6" name="Line 6"/>
            <p:cNvSpPr/>
            <p:nvPr/>
          </p:nvSpPr>
          <p:spPr>
            <a:xfrm>
              <a:off x="4114800" y="17145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848600" y="17145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0550" y="158750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8170" y="244475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条件解析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8170" y="2768600"/>
              <a:ext cx="248918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+ 证据 grounding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2742" y="3282950"/>
              <a:ext cx="1522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实体 / 别名 / 指代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2742" y="3568700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时间区间 / 关系方向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2742" y="3854450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否定 / 状态更新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2742" y="4254500"/>
              <a:ext cx="17647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条件落到 L0 dialogue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2742" y="4540250"/>
              <a:ext cx="17493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unresolved 显式保留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24350" y="158750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31970" y="244475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条件感知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31970" y="2768600"/>
              <a:ext cx="160018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融合 / 重排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36542" y="3282950"/>
              <a:ext cx="20354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BM25 / dense / SPLADE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36542" y="3568700"/>
              <a:ext cx="22014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L0 / hierarchical / graph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36542" y="3854450"/>
              <a:ext cx="18856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条件匹配 + 覆盖 + 去重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36542" y="425450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高置信才硬过滤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36542" y="454025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低置信条件只做软特征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58150" y="158750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65770" y="2444750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端到端验证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70342" y="3282950"/>
              <a:ext cx="16063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R@10 / nDCG / FAR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70342" y="3568700"/>
              <a:ext cx="20472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abstention / F1 / judge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070342" y="3854450"/>
              <a:ext cx="16584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延迟 / token / 成本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70342" y="4254500"/>
              <a:ext cx="1149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独立 dev 验证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70342" y="454025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目标与结果分开记录</a:t>
              </a:r>
            </a:p>
          </p:txBody>
        </p:sp>
      </p:grpSp>
      <p:grpSp>
        <p:nvGrpSpPr>
          <p:cNvPr id="33" name="takeaway"/>
          <p:cNvGrpSpPr/>
          <p:nvPr/>
        </p:nvGrpSpPr>
        <p:grpSpPr>
          <a:xfrm>
            <a:off x="601218" y="5854700"/>
            <a:ext cx="6680454" cy="322707"/>
            <a:chOff x="601218" y="5854700"/>
            <a:chExt cx="6680454" cy="322707"/>
          </a:xfrm>
        </p:grpSpPr>
        <p:sp>
          <p:nvSpPr>
            <p:cNvPr id="32" name="TextBox 32"/>
            <p:cNvSpPr txBox="1"/>
            <p:nvPr/>
          </p:nvSpPr>
          <p:spPr>
            <a:xfrm>
              <a:off x="601218" y="5854700"/>
              <a:ext cx="6680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第一层解决能不能用，第二层解决有没有用，第三层解决值不值得。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604266" y="6521450"/>
            <a:ext cx="10983468" cy="205359"/>
            <a:chOff x="604266" y="6521450"/>
            <a:chExt cx="10983468" cy="205359"/>
          </a:xfrm>
        </p:grpSpPr>
        <p:sp>
          <p:nvSpPr>
            <p:cNvPr id="34" name="TextBox 34"/>
            <p:cNvSpPr txBox="1"/>
            <p:nvPr/>
          </p:nvSpPr>
          <p:spPr>
            <a:xfrm>
              <a:off x="604266" y="65214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728960" y="652145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三层初步设计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609600" y="64008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grpSp>
        <p:nvGrpSpPr>
          <p:cNvPr id="5" name="title"/>
          <p:cNvGrpSpPr/>
          <p:nvPr/>
        </p:nvGrpSpPr>
        <p:grpSpPr>
          <a:xfrm>
            <a:off x="593598" y="234950"/>
            <a:ext cx="3231654" cy="783198"/>
            <a:chOff x="593598" y="234950"/>
            <a:chExt cx="3231654" cy="783198"/>
          </a:xfrm>
        </p:grpSpPr>
        <p:sp>
          <p:nvSpPr>
            <p:cNvPr id="3" name="TextBox 3"/>
            <p:cNvSpPr txBox="1"/>
            <p:nvPr/>
          </p:nvSpPr>
          <p:spPr>
            <a:xfrm>
              <a:off x="604266" y="234950"/>
              <a:ext cx="10545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10 · 实施计划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533400"/>
              <a:ext cx="3231654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后续实验实施流程</a:t>
              </a:r>
              <a:endParaRPr lang="zh-CN" sz="31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21" name="phases"/>
          <p:cNvGrpSpPr/>
          <p:nvPr/>
        </p:nvGrpSpPr>
        <p:grpSpPr>
          <a:xfrm>
            <a:off x="602742" y="1587500"/>
            <a:ext cx="4144341" cy="3575050"/>
            <a:chOff x="602742" y="1587500"/>
            <a:chExt cx="4144341" cy="3575050"/>
          </a:xfrm>
        </p:grpSpPr>
        <p:sp>
          <p:nvSpPr>
            <p:cNvPr id="6" name="TextBox 6"/>
            <p:cNvSpPr txBox="1"/>
            <p:nvPr/>
          </p:nvSpPr>
          <p:spPr>
            <a:xfrm>
              <a:off x="602742" y="15875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实施顺序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952500" y="1962150"/>
              <a:ext cx="9525" cy="3200400"/>
            </a:xfrm>
            <a:custGeom>
              <a:avLst/>
              <a:gdLst/>
              <a:ahLst/>
              <a:cxnLst/>
              <a:rect l="l" t="t" r="r" b="b"/>
              <a:pathLst>
                <a:path w="9525" h="3200400">
                  <a:moveTo>
                    <a:pt x="0" y="0"/>
                  </a:moveTo>
                  <a:lnTo>
                    <a:pt x="0" y="320040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904875" y="20288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04875" y="28289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04875" y="36290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904875" y="44291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324356" y="1936750"/>
              <a:ext cx="30360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Phase 0 · 方法级 ablation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6642" y="2254250"/>
              <a:ext cx="34204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拆开 BM25 / dense / SPLADE 的单独贡献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24356" y="2736850"/>
              <a:ext cx="32396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Phase 1 · 解析与 grounding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26642" y="3054350"/>
              <a:ext cx="26579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精确过滤 gold 保留率目标 ≥ 90%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24356" y="3536950"/>
              <a:ext cx="28343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Phase 2 · 条件融合/重排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26642" y="3854450"/>
              <a:ext cx="2695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独立 dev 上 ≥ +2 点 R@10 才继续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24356" y="4337050"/>
              <a:ext cx="24521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Phase 3 · 端到端验证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26642" y="4654550"/>
              <a:ext cx="29134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F1 / judge / 成本；再决定是否扩图</a:t>
              </a:r>
            </a:p>
          </p:txBody>
        </p:sp>
      </p:grpSp>
      <p:grpSp>
        <p:nvGrpSpPr>
          <p:cNvPr id="33" name="stop-conditions"/>
          <p:cNvGrpSpPr/>
          <p:nvPr/>
        </p:nvGrpSpPr>
        <p:grpSpPr>
          <a:xfrm>
            <a:off x="8184642" y="1587500"/>
            <a:ext cx="3397758" cy="3142996"/>
            <a:chOff x="8184642" y="1587500"/>
            <a:chExt cx="3397758" cy="3142996"/>
          </a:xfrm>
        </p:grpSpPr>
        <p:sp>
          <p:nvSpPr>
            <p:cNvPr id="22" name="TextBox 22"/>
            <p:cNvSpPr txBox="1"/>
            <p:nvPr/>
          </p:nvSpPr>
          <p:spPr>
            <a:xfrm>
              <a:off x="8184642" y="15875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停止条件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8191500" y="1885950"/>
              <a:ext cx="3390900" cy="9525"/>
            </a:xfrm>
            <a:custGeom>
              <a:avLst/>
              <a:gdLst/>
              <a:ahLst/>
              <a:cxnLst/>
              <a:rect l="l" t="t" r="r" b="b"/>
              <a:pathLst>
                <a:path w="3390900" h="9525">
                  <a:moveTo>
                    <a:pt x="0" y="0"/>
                  </a:moveTo>
                  <a:lnTo>
                    <a:pt x="33909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184642" y="2082800"/>
              <a:ext cx="14130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grounding &lt; 90%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85404" y="2324100"/>
              <a:ext cx="9572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→ 不做硬过滤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84642" y="2806700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融合 &lt; +2 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85404" y="3048000"/>
              <a:ext cx="9572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→ 停止该方向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84642" y="3530600"/>
              <a:ext cx="12040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图扩展 &lt; +3 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85404" y="3771900"/>
              <a:ext cx="9572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→ 停止图扩展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84642" y="4254500"/>
              <a:ext cx="15351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MLP 上限 &lt; 1–2 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85404" y="449580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→ 不训练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604266" y="6521450"/>
            <a:ext cx="10983468" cy="205359"/>
            <a:chOff x="604266" y="6521450"/>
            <a:chExt cx="10983468" cy="205359"/>
          </a:xfrm>
        </p:grpSpPr>
        <p:sp>
          <p:nvSpPr>
            <p:cNvPr id="36" name="TextBox 36"/>
            <p:cNvSpPr txBox="1"/>
            <p:nvPr/>
          </p:nvSpPr>
          <p:spPr>
            <a:xfrm>
              <a:off x="604266" y="65214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12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304907" y="652145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实施计划与停止条件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7810500" y="3200400"/>
            <a:ext cx="9525" cy="2019300"/>
          </a:xfrm>
          <a:custGeom>
            <a:avLst/>
            <a:gdLst/>
            <a:ahLst/>
            <a:cxnLst/>
            <a:rect l="l" t="t" r="r" b="b"/>
            <a:pathLst>
              <a:path w="9525" h="2019300">
                <a:moveTo>
                  <a:pt x="0" y="0"/>
                </a:moveTo>
                <a:lnTo>
                  <a:pt x="0" y="2019300"/>
                </a:lnTo>
              </a:path>
            </a:pathLst>
          </a:custGeom>
          <a:noFill/>
          <a:ln w="28575">
            <a:solidFill>
              <a:schemeClr val="accent2"/>
            </a:solidFill>
          </a:ln>
        </p:spPr>
      </p:sp>
      <p:sp>
        <p:nvSpPr>
          <p:cNvPr id="3" name="Line 3"/>
          <p:cNvSpPr/>
          <p:nvPr/>
        </p:nvSpPr>
        <p:spPr>
          <a:xfrm>
            <a:off x="609600" y="64008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grpSp>
        <p:nvGrpSpPr>
          <p:cNvPr id="7" name="closing-title"/>
          <p:cNvGrpSpPr/>
          <p:nvPr/>
        </p:nvGrpSpPr>
        <p:grpSpPr>
          <a:xfrm>
            <a:off x="593598" y="1111250"/>
            <a:ext cx="3231654" cy="1449948"/>
            <a:chOff x="593598" y="1111250"/>
            <a:chExt cx="3231654" cy="1449948"/>
          </a:xfrm>
        </p:grpSpPr>
        <p:sp>
          <p:nvSpPr>
            <p:cNvPr id="4" name="TextBox 4"/>
            <p:cNvSpPr txBox="1"/>
            <p:nvPr/>
          </p:nvSpPr>
          <p:spPr>
            <a:xfrm>
              <a:off x="604266" y="1111250"/>
              <a:ext cx="10190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结论 · 下一步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3598" y="1524000"/>
              <a:ext cx="3231654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条件落实到证据</a:t>
              </a:r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3598" y="2076450"/>
              <a:ext cx="2827697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融合</a:t>
              </a:r>
              <a:r>
                <a:rPr lang="zh-CN" altLang="en-US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各检索方式</a:t>
              </a:r>
              <a:endParaRPr lang="zh-CN" sz="31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4" name="three-conclusions"/>
          <p:cNvGrpSpPr/>
          <p:nvPr/>
        </p:nvGrpSpPr>
        <p:grpSpPr>
          <a:xfrm>
            <a:off x="602742" y="3136900"/>
            <a:ext cx="5573954" cy="1305433"/>
            <a:chOff x="602742" y="3136900"/>
            <a:chExt cx="5573954" cy="1305433"/>
          </a:xfrm>
        </p:grpSpPr>
        <p:sp>
          <p:nvSpPr>
            <p:cNvPr id="8" name="TextBox 8"/>
            <p:cNvSpPr txBox="1"/>
            <p:nvPr/>
          </p:nvSpPr>
          <p:spPr>
            <a:xfrm>
              <a:off x="602742" y="318770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57656" y="313690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基础已具备：多后端、多塔、图结构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2742" y="368300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57656" y="3632200"/>
              <a:ext cx="51190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瓶颈：候选饱和、条件 grounding、top-k 选择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2742" y="417830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7656" y="4127500"/>
              <a:ext cx="3462486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下一步：condition-aware fusion；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8412285" y="3993634"/>
            <a:ext cx="1570488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欢迎提问</a:t>
            </a:r>
          </a:p>
        </p:txBody>
      </p:sp>
      <p:grpSp>
        <p:nvGrpSpPr>
          <p:cNvPr id="23" name="footer"/>
          <p:cNvGrpSpPr/>
          <p:nvPr/>
        </p:nvGrpSpPr>
        <p:grpSpPr>
          <a:xfrm>
            <a:off x="604266" y="6521450"/>
            <a:ext cx="10983468" cy="205359"/>
            <a:chOff x="604266" y="6521450"/>
            <a:chExt cx="10983468" cy="205359"/>
          </a:xfrm>
        </p:grpSpPr>
        <p:sp>
          <p:nvSpPr>
            <p:cNvPr id="21" name="TextBox 21"/>
            <p:cNvSpPr txBox="1"/>
            <p:nvPr/>
          </p:nvSpPr>
          <p:spPr>
            <a:xfrm>
              <a:off x="604266" y="65214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12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91622" y="6521450"/>
              <a:ext cx="24961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Mandol 复杂条件检索与多检索方式融合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mandol-exp0">
  <a:themeElements>
    <a:clrScheme name="mandol-exp0">
      <a:dk1>
        <a:srgbClr val="252B30"/>
      </a:dk1>
      <a:lt1>
        <a:srgbClr val="F7F3EA"/>
      </a:lt1>
      <a:dk2>
        <a:srgbClr val="1F497D"/>
      </a:dk2>
      <a:lt2>
        <a:srgbClr val="E8E0D2"/>
      </a:lt2>
      <a:accent1>
        <a:srgbClr val="17232C"/>
      </a:accent1>
      <a:accent2>
        <a:srgbClr val="C24E2E"/>
      </a:accent2>
      <a:accent3>
        <a:srgbClr val="2E6E68"/>
      </a:accent3>
      <a:accent4>
        <a:srgbClr val="17232C"/>
      </a:accent4>
      <a:accent5>
        <a:srgbClr val="6D665C"/>
      </a:accent5>
      <a:accent6>
        <a:srgbClr val="D5CCBD"/>
      </a:accent6>
      <a:hlink>
        <a:srgbClr val="C24E2E"/>
      </a:hlink>
      <a:folHlink>
        <a:srgbClr val="2E6E68"/>
      </a:folHlink>
    </a:clrScheme>
    <a:fontScheme name="mandol-exp0">
      <a:majorFont>
        <a:latin typeface="Arial Black"/>
        <a:ea typeface="Microsoft YaHei"/>
        <a:cs typeface="Arial Black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ndol-exp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andol-exp0">
  <a:themeElements>
    <a:clrScheme name="mandol-exp0">
      <a:dk1>
        <a:srgbClr val="252B30"/>
      </a:dk1>
      <a:lt1>
        <a:srgbClr val="F7F3EA"/>
      </a:lt1>
      <a:dk2>
        <a:srgbClr val="1F497D"/>
      </a:dk2>
      <a:lt2>
        <a:srgbClr val="E8E0D2"/>
      </a:lt2>
      <a:accent1>
        <a:srgbClr val="17232C"/>
      </a:accent1>
      <a:accent2>
        <a:srgbClr val="C24E2E"/>
      </a:accent2>
      <a:accent3>
        <a:srgbClr val="2E6E68"/>
      </a:accent3>
      <a:accent4>
        <a:srgbClr val="17232C"/>
      </a:accent4>
      <a:accent5>
        <a:srgbClr val="6D665C"/>
      </a:accent5>
      <a:accent6>
        <a:srgbClr val="D5CCBD"/>
      </a:accent6>
      <a:hlink>
        <a:srgbClr val="C24E2E"/>
      </a:hlink>
      <a:folHlink>
        <a:srgbClr val="2E6E68"/>
      </a:folHlink>
    </a:clrScheme>
    <a:fontScheme name="mandol-exp0">
      <a:majorFont>
        <a:latin typeface="Arial Black"/>
        <a:ea typeface="Microsoft YaHei"/>
        <a:cs typeface="Arial Black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ndol-exp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4632</Words>
  <Application>Microsoft Office PowerPoint</Application>
  <PresentationFormat>宽屏</PresentationFormat>
  <Paragraphs>270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Arial Black</vt:lpstr>
      <vt:lpstr>mandol-exp0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禹衡 赵</cp:lastModifiedBy>
  <cp:revision>7</cp:revision>
  <dcterms:created xsi:type="dcterms:W3CDTF">2026-10-21T15:18:52Z</dcterms:created>
  <dcterms:modified xsi:type="dcterms:W3CDTF">2026-10-22T03:22:02Z</dcterms:modified>
  <cp:category/>
  <cp:contentStatus/>
  <dc:language>zh-CN</dc:language>
</cp:coreProperties>
</file>